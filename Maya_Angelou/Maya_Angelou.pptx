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Lst>
  <p:notesMasterIdLst>
    <p:notesMasterId r:id="rId3"/>
  </p:notesMasterIdLst>
  <p:sldSz cx="12191695" cy="6858000"/>
  <p:notesSz cx="6858000" cy="12191695"/>
  <p:embeddedFontLst>
    <p:embeddedFont>
      <p:font typeface="Alegreya Sans"/>
      <p:regular r:id="rId201314"/>
    </p:embeddedFont>
    <p:embeddedFont>
      <p:font typeface="Alegreya Sans Medium"/>
      <p:regular r:id="rId201315"/>
    </p:embeddedFont>
    <p:embeddedFont>
      <p:font typeface="Alegreya Sans Bold"/>
      <p:regular r:id="rId201316"/>
    </p:embeddedFont>
    <p:embeddedFont>
      <p:font typeface="Big Shoulders Bold"/>
      <p:regular r:id="rId201317"/>
    </p:embeddedFont>
    <p:embeddedFont>
      <p:font typeface="Big Shoulders Extra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Poem reference and structure analysis: Stanza 1 (lines 1–7): The speaker reflects privately on her life, characterizing her experiences through ironic reversals of song and dance that culminate in laughter that nearly chokes her. Rather than lighthearted amusement, this laughter emerges as a defense mechanism.
Stanza 2 (lines 8–14): After sixty years of life and labor, an employer’s child refers to her as "girl." To survive and maintain necessary employment, she responds with deference ("yes ma’am"), balancing personal dignity against economic necessity. The term "girl" functions to infantilize and diminish an adult, illustrating irony—a marked contrast between expected adult respect and domestic servitude.
Stanza 3 (lines 15–21): The speaker turns to the collective memory and stories of her people, which seem almost unbelievable in their hardship. She invokes the metaphor of growing fruit while being left with only the bitter rind, suggesting that others extract the wealth of their labor while the laborers receive mere scraps. "Rind" denotes the tough, unpalatable outer peel. This reading offers an interpretive lens on systemic inequity rather than a definitive biographical account of the author.
Crucially, her laughter shifts directly into weeping, revealing that humor coexists with grief, exhaustion, and survival. Citation: Maya Angelou, "When I Think About Myself" (stanzas 1–3, lines 1–21). In presenting this work, keep the poetic speaker distinct from Angelou herself and avoid attributing a single definitive psychological intent to the speaker's complex laughter.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BF1D6"/>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1637619"/>
            <a:ext cx="6431198" cy="181570"/>
          </a:xfrm>
          <a:prstGeom prst="rect">
            <a:avLst/>
          </a:prstGeom>
          <a:noFill/>
          <a:ln/>
        </p:spPr>
        <p:txBody>
          <a:bodyPr wrap="none" lIns="0" tIns="0" rIns="0" bIns="0" rtlCol="0" anchor="t"/>
          <a:lstStyle/>
          <a:p>
            <a:pPr algn="l" indent="0" marL="0">
              <a:lnSpc>
                <a:spcPct val="92000"/>
              </a:lnSpc>
              <a:buNone/>
            </a:pPr>
            <a:r>
              <a:rPr lang="en-US" sz="1300" b="1" spc="104" kern="100" dirty="0">
                <a:solidFill>
                  <a:srgbClr val="1B2F8F"/>
                </a:solidFill>
                <a:latin typeface="Big Shoulders Bold" pitchFamily="34" charset="0"/>
                <a:ea typeface="Big Shoulders Bold" pitchFamily="34" charset="-122"/>
                <a:cs typeface="Big Shoulders Bold" pitchFamily="34" charset="0"/>
              </a:rPr>
              <a:t>MAYA ANGELOU · WHEN I THINK ABOUT MYSELF</a:t>
            </a:r>
            <a:endParaRPr lang="en-US" sz="1300" dirty="0"/>
          </a:p>
        </p:txBody>
      </p:sp>
      <p:sp>
        <p:nvSpPr>
          <p:cNvPr id="3" name="Text 1"/>
          <p:cNvSpPr/>
          <p:nvPr/>
        </p:nvSpPr>
        <p:spPr>
          <a:xfrm>
            <a:off x="609585" y="1997189"/>
            <a:ext cx="5821614" cy="1241425"/>
          </a:xfrm>
          <a:prstGeom prst="rect">
            <a:avLst/>
          </a:prstGeom>
          <a:noFill/>
          <a:ln/>
        </p:spPr>
        <p:txBody>
          <a:bodyPr wrap="square" lIns="0" tIns="0" rIns="0" bIns="0" rtlCol="0" anchor="t">
            <a:normAutofit/>
          </a:bodyPr>
          <a:lstStyle/>
          <a:p>
            <a:pPr algn="l" indent="0" marL="0">
              <a:lnSpc>
                <a:spcPct val="78000"/>
              </a:lnSpc>
              <a:buNone/>
            </a:pPr>
            <a:r>
              <a:rPr lang="en-US" sz="5200" spc="52" kern="100" dirty="0">
                <a:solidFill>
                  <a:srgbClr val="0E1740"/>
                </a:solidFill>
                <a:latin typeface="Big Shoulders ExtraBold" pitchFamily="34" charset="0"/>
                <a:ea typeface="Big Shoulders ExtraBold" pitchFamily="34" charset="-122"/>
                <a:cs typeface="Big Shoulders ExtraBold" pitchFamily="34" charset="0"/>
              </a:rPr>
              <a:t>LAUGHTER HOLDS BOTH PRIDE AND PAIN</a:t>
            </a:r>
            <a:endParaRPr lang="en-US" sz="5200" dirty="0"/>
          </a:p>
        </p:txBody>
      </p:sp>
      <p:sp>
        <p:nvSpPr>
          <p:cNvPr id="4" name="Text 2"/>
          <p:cNvSpPr/>
          <p:nvPr/>
        </p:nvSpPr>
        <p:spPr>
          <a:xfrm>
            <a:off x="609585" y="3331170"/>
            <a:ext cx="5821614" cy="1472009"/>
          </a:xfrm>
          <a:prstGeom prst="rect">
            <a:avLst/>
          </a:prstGeom>
          <a:noFill/>
          <a:ln/>
        </p:spPr>
        <p:txBody>
          <a:bodyPr wrap="square" lIns="0" tIns="0" rIns="0" bIns="0" rtlCol="0" anchor="t">
            <a:normAutofit/>
          </a:bodyPr>
          <a:lstStyle/>
          <a:p>
            <a:pPr algn="l" indent="0" marL="0">
              <a:lnSpc>
                <a:spcPct val="115000"/>
              </a:lnSpc>
              <a:buNone/>
            </a:pPr>
            <a:r>
              <a:rPr lang="en-US" sz="2100" dirty="0">
                <a:solidFill>
                  <a:srgbClr val="0E1740"/>
                </a:solidFill>
                <a:latin typeface="Alegreya Sans" pitchFamily="34" charset="0"/>
                <a:ea typeface="Alegreya Sans" pitchFamily="34" charset="-122"/>
                <a:cs typeface="Alegreya Sans" pitchFamily="34" charset="0"/>
              </a:rPr>
              <a:t>In Maya Angelou’s poem, the speaker navigates degrading labor and communal hardship, using laughter not for amusement, but as an enduring mask that gives way to grief.</a:t>
            </a:r>
            <a:endParaRPr lang="en-US" sz="2100" dirty="0"/>
          </a:p>
        </p:txBody>
      </p:sp>
      <p:sp>
        <p:nvSpPr>
          <p:cNvPr id="5" name="Text 3"/>
          <p:cNvSpPr/>
          <p:nvPr/>
        </p:nvSpPr>
        <p:spPr>
          <a:xfrm>
            <a:off x="609585" y="5006380"/>
            <a:ext cx="6431198" cy="222845"/>
          </a:xfrm>
          <a:prstGeom prst="rect">
            <a:avLst/>
          </a:prstGeom>
          <a:noFill/>
          <a:ln/>
        </p:spPr>
        <p:txBody>
          <a:bodyPr wrap="none" lIns="0" tIns="0" rIns="0" bIns="0" rtlCol="0" anchor="t"/>
          <a:lstStyle/>
          <a:p>
            <a:pPr algn="l" indent="0" marL="0">
              <a:lnSpc>
                <a:spcPct val="108000"/>
              </a:lnSpc>
              <a:buNone/>
            </a:pPr>
            <a:r>
              <a:rPr lang="en-US" sz="1350" spc="7" kern="100" dirty="0">
                <a:solidFill>
                  <a:srgbClr val="454C70"/>
                </a:solidFill>
                <a:latin typeface="Alegreya Sans Medium" pitchFamily="34" charset="0"/>
                <a:ea typeface="Alegreya Sans Medium" pitchFamily="34" charset="-122"/>
                <a:cs typeface="Alegreya Sans Medium" pitchFamily="34" charset="0"/>
              </a:rPr>
              <a:t>Interpretive study of Stanzas 1–3 (lines 1–21) · Metaphor of unequal harvest</a:t>
            </a:r>
            <a:endParaRPr lang="en-US" sz="1350" dirty="0"/>
          </a:p>
        </p:txBody>
      </p:sp>
      <p:pic>
        <p:nvPicPr>
          <p:cNvPr id="6" name="Image 0" descr="preencoded.png">    </p:cNvPr>
          <p:cNvPicPr>
            <a:picLocks noChangeAspect="1"/>
          </p:cNvPicPr>
          <p:nvPr/>
        </p:nvPicPr>
        <p:blipFill>
          <a:blip r:embed="rId1"/>
          <a:stretch>
            <a:fillRect/>
          </a:stretch>
        </p:blipFill>
        <p:spPr>
          <a:xfrm>
            <a:off x="8107457" y="1691580"/>
            <a:ext cx="3474653" cy="34747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2026-10-30T07:25:00Z</dcterms:created>
  <dcterms:modified xsi:type="dcterms:W3CDTF">2026-10-30T07:25:00Z</dcterms:modified>
</cp:coreProperties>
</file>