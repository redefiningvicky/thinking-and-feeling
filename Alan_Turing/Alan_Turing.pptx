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Bitter Bold"/>
      <p:regular r:id="rId201314"/>
    </p:embeddedFont>
    <p:embeddedFont>
      <p:font typeface="Bitter ExtraBold"/>
      <p:regular r:id="rId201315"/>
    </p:embeddedFont>
    <p:embeddedFont>
      <p:font typeface="Public Sans"/>
      <p:regular r:id="rId201316"/>
    </p:embeddedFont>
    <p:embeddedFont>
      <p:font typeface="Public Sans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Turing’s opening move in Section 1 ("The Imitation Game"): rather than debating dictionary definitions of "machine" and "think," which invites endless semantic disagreement, he proposes replacing the question with an operational test based on observable intellectual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Section 1, Turing defines the imitation game. Originally, an interrogator (C) communicates via teletype with a man (A) and a woman (B). The man tries to deceive while the woman helps. Turing then asks: "What will happen when a machine takes the part of A in this game? Will the interrogator decide wrongly as often... as when the game is played between a man and a woman?"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explains the purpose of the teleprinter: to maintain a strict separation between physical capacities and intellectual capacities. A machine should not be penalized for lacking human flesh, hair, or vocal cords, nor rewarded for cosmetic resemblance. The focus is strictly linguistic and intellectual competence.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Section 4 ("Digital Computers"), Turing outlines the tripartite division into store, executive unit, and control. He demonstrates universal property: a universal digital computer, given sufficient storage capacity and operating speed, can simulate any discrete-state machine. Thus, we do not need distinct custom machines for each mental faculty.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Section 6 ("Opinions on the Main Question"), Turing explicitly labels his famous benchmark as an opinion: "I believe that in about fifty years’ time it will be possible to programme computers, with a storage capacity of about 10^9, to make them play the imitation game so well that an average interrogator will not have more than 70 per cent. chance of making the right identification after five minutes of questioning." Emphasize that this was an informed conjecture, not mathematical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6(3) addresses the mathematical objection grounded in Gödel’s theorem and related undecidability results. Turing concedes that any particular machine has limitations, but replies that humans frequently make errors and fall victim to fallacies; nobody has established that human intellect is exempt from comparable theoretical bounds.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6(4) discusses the Argument from Consciousness (notably championed by Prof. Geoffrey Jefferson). Turing notes that if we demand first-person phenomenal awareness as proof of thinking, the strictly logical conclusion is solipsism. In everyday life, we attribute thinking to other people based solely on linguistic and behavioral exchange.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6(6) examines Lady Lovelace’s famous objection (from her 1842 memoir on Babbage’s Analytical Engine) that machines can only do what we know how to order them to do. Turing responds that machines regularly produce surprising results because tracing all logical consequences of a large set of rules outstrips human working memory. He notes surprise does not prove creative soul, but refutes the claim of trivial predictability.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Section 7 ("Learning Machines"), Turing introduces his practical proposal: rather than programming an adult mind directly, program a child mind and educate it. He draws an analogy to evolution (hereditary structure = child machine; mutations = experimenter changes; natural selection = teacher judgment). Crucially, the machine’s physical constitution is fixed, but its operative subroutines alter through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Turing concludes Section 7 not with triumphant proof that machines think, but with an open empirical research agenda. He recommends two parallel experimental avenues: abstract formal games like chess, and teaching language comprehension. The paper closes with his celebrated remark: "We can only see a short distance ahead, but we can see plenty there that needs to be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4284B"/>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DAE5F0"/>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FFE01B"/>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189" y="2072184"/>
            <a:ext cx="2336642" cy="328116"/>
          </a:xfrm>
          <a:prstGeom prst="rect">
            <a:avLst/>
          </a:prstGeom>
          <a:solidFill>
            <a:srgbClr val="FFE01B"/>
          </a:solidFill>
          <a:ln/>
        </p:spPr>
      </p:sp>
      <p:sp>
        <p:nvSpPr>
          <p:cNvPr id="3" name="Text 1"/>
          <p:cNvSpPr/>
          <p:nvPr/>
        </p:nvSpPr>
        <p:spPr>
          <a:xfrm>
            <a:off x="578034" y="2142704"/>
            <a:ext cx="2704536" cy="207268"/>
          </a:xfrm>
          <a:prstGeom prst="rect">
            <a:avLst/>
          </a:prstGeom>
          <a:noFill/>
          <a:ln/>
        </p:spPr>
        <p:txBody>
          <a:bodyPr wrap="none" lIns="0" tIns="0" rIns="0" bIns="0" rtlCol="0" anchor="t"/>
          <a:lstStyle/>
          <a:p>
            <a:pPr algn="l" indent="0" marL="0">
              <a:lnSpc>
                <a:spcPct val="100000"/>
              </a:lnSpc>
              <a:buNone/>
            </a:pPr>
            <a:r>
              <a:rPr lang="en-US" sz="1350" b="1" spc="14" kern="100" dirty="0">
                <a:solidFill>
                  <a:srgbClr val="000000"/>
                </a:solidFill>
                <a:latin typeface="Public Sans Bold" pitchFamily="34" charset="0"/>
                <a:ea typeface="Public Sans Bold" pitchFamily="34" charset="-122"/>
                <a:cs typeface="Public Sans Bold" pitchFamily="34" charset="0"/>
              </a:rPr>
              <a:t>Section 1 · 1950 Proposal</a:t>
            </a:r>
            <a:endParaRPr lang="en-US" sz="1350" dirty="0"/>
          </a:p>
        </p:txBody>
      </p:sp>
      <p:sp>
        <p:nvSpPr>
          <p:cNvPr id="4" name="Text 2"/>
          <p:cNvSpPr/>
          <p:nvPr/>
        </p:nvSpPr>
        <p:spPr>
          <a:xfrm>
            <a:off x="457189" y="2518728"/>
            <a:ext cx="5587860" cy="586680"/>
          </a:xfrm>
          <a:prstGeom prst="rect">
            <a:avLst/>
          </a:prstGeom>
          <a:noFill/>
          <a:ln/>
        </p:spPr>
        <p:txBody>
          <a:bodyPr wrap="none" lIns="0" tIns="0" rIns="0" bIns="0" rtlCol="0" anchor="t"/>
          <a:lstStyle/>
          <a:p>
            <a:pPr algn="l" indent="0" marL="0">
              <a:lnSpc>
                <a:spcPct val="87000"/>
              </a:lnSpc>
              <a:buNone/>
            </a:pPr>
            <a:r>
              <a:rPr lang="en-US" sz="4400" spc="-44" kern="100" dirty="0">
                <a:solidFill>
                  <a:srgbClr val="FFFFFF"/>
                </a:solidFill>
                <a:latin typeface="Bitter ExtraBold" pitchFamily="34" charset="0"/>
                <a:ea typeface="Bitter ExtraBold" pitchFamily="34" charset="-122"/>
                <a:cs typeface="Bitter ExtraBold" pitchFamily="34" charset="0"/>
              </a:rPr>
              <a:t>Can machines think?</a:t>
            </a:r>
            <a:endParaRPr lang="en-US" sz="4400" dirty="0"/>
          </a:p>
        </p:txBody>
      </p:sp>
      <p:sp>
        <p:nvSpPr>
          <p:cNvPr id="5" name="Text 3"/>
          <p:cNvSpPr/>
          <p:nvPr/>
        </p:nvSpPr>
        <p:spPr>
          <a:xfrm>
            <a:off x="457189" y="3263205"/>
            <a:ext cx="5587860" cy="1104900"/>
          </a:xfrm>
          <a:prstGeom prst="rect">
            <a:avLst/>
          </a:prstGeom>
          <a:noFill/>
          <a:ln/>
        </p:spPr>
        <p:txBody>
          <a:bodyPr wrap="square" lIns="0" tIns="0" rIns="0" bIns="0" rtlCol="0" anchor="t">
            <a:normAutofit/>
          </a:bodyPr>
          <a:lstStyle/>
          <a:p>
            <a:pPr algn="l" indent="0" marL="0">
              <a:lnSpc>
                <a:spcPct val="121000"/>
              </a:lnSpc>
              <a:buNone/>
            </a:pPr>
            <a:r>
              <a:rPr lang="en-US" sz="2000" dirty="0">
                <a:solidFill>
                  <a:srgbClr val="FFFFFF"/>
                </a:solidFill>
                <a:latin typeface="Public Sans" pitchFamily="34" charset="0"/>
                <a:ea typeface="Public Sans" pitchFamily="34" charset="-122"/>
                <a:cs typeface="Public Sans" pitchFamily="34" charset="0"/>
              </a:rPr>
              <a:t>Turing replaces contested definitions with an operational question of intellectual performance.</a:t>
            </a:r>
            <a:endParaRPr lang="en-US" sz="2000" dirty="0"/>
          </a:p>
        </p:txBody>
      </p:sp>
      <p:sp>
        <p:nvSpPr>
          <p:cNvPr id="6" name="Text 4"/>
          <p:cNvSpPr/>
          <p:nvPr/>
        </p:nvSpPr>
        <p:spPr>
          <a:xfrm>
            <a:off x="457189" y="4552573"/>
            <a:ext cx="6045049" cy="240010"/>
          </a:xfrm>
          <a:prstGeom prst="rect">
            <a:avLst/>
          </a:prstGeom>
          <a:noFill/>
          <a:ln/>
        </p:spPr>
        <p:txBody>
          <a:bodyPr wrap="none" lIns="0" tIns="0" rIns="0" bIns="0" rtlCol="0" anchor="t"/>
          <a:lstStyle/>
          <a:p>
            <a:pPr algn="l" indent="0" marL="0">
              <a:lnSpc>
                <a:spcPct val="112000"/>
              </a:lnSpc>
              <a:buNone/>
            </a:pPr>
            <a:r>
              <a:rPr lang="en-US" sz="1400" dirty="0">
                <a:solidFill>
                  <a:srgbClr val="FFFFFF"/>
                </a:solidFill>
                <a:latin typeface="Public Sans" pitchFamily="34" charset="0"/>
                <a:ea typeface="Public Sans" pitchFamily="34" charset="-122"/>
                <a:cs typeface="Public Sans" pitchFamily="34" charset="0"/>
              </a:rPr>
              <a:t>A. M. Turing · Computing Machinery and Intelligence, Mind (1950)</a:t>
            </a:r>
            <a:endParaRPr lang="en-US" sz="1400" dirty="0"/>
          </a:p>
        </p:txBody>
      </p:sp>
      <p:pic>
        <p:nvPicPr>
          <p:cNvPr id="7" name="Image 0" descr="preencoded.png">    </p:cNvPr>
          <p:cNvPicPr>
            <a:picLocks noChangeAspect="1"/>
          </p:cNvPicPr>
          <p:nvPr/>
        </p:nvPicPr>
        <p:blipFill>
          <a:blip r:embed="rId1"/>
          <a:stretch>
            <a:fillRect/>
          </a:stretch>
        </p:blipFill>
        <p:spPr>
          <a:xfrm>
            <a:off x="6502237" y="0"/>
            <a:ext cx="5689458"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189" y="491236"/>
            <a:ext cx="11277318" cy="506710"/>
          </a:xfrm>
          <a:prstGeom prst="rect">
            <a:avLst/>
          </a:prstGeom>
          <a:noFill/>
          <a:ln/>
        </p:spPr>
        <p:txBody>
          <a:bodyPr wrap="none" lIns="0" tIns="0" rIns="0" bIns="0" rtlCol="0" anchor="t"/>
          <a:lstStyle/>
          <a:p>
            <a:pPr algn="l" indent="0" marL="0">
              <a:lnSpc>
                <a:spcPct val="87000"/>
              </a:lnSpc>
              <a:buNone/>
            </a:pPr>
            <a:r>
              <a:rPr lang="en-US" sz="3800" spc="-38" kern="100" dirty="0">
                <a:solidFill>
                  <a:srgbClr val="14284B"/>
                </a:solidFill>
                <a:latin typeface="Bitter ExtraBold" pitchFamily="34" charset="0"/>
                <a:ea typeface="Bitter ExtraBold" pitchFamily="34" charset="-122"/>
                <a:cs typeface="Bitter ExtraBold" pitchFamily="34" charset="0"/>
              </a:rPr>
              <a:t>The imitation game changes the question</a:t>
            </a:r>
            <a:endParaRPr lang="en-US" sz="3800" dirty="0"/>
          </a:p>
        </p:txBody>
      </p:sp>
      <p:sp>
        <p:nvSpPr>
          <p:cNvPr id="3" name="Text 1"/>
          <p:cNvSpPr/>
          <p:nvPr/>
        </p:nvSpPr>
        <p:spPr>
          <a:xfrm>
            <a:off x="457189" y="1167428"/>
            <a:ext cx="11734506" cy="240010"/>
          </a:xfrm>
          <a:prstGeom prst="rect">
            <a:avLst/>
          </a:prstGeom>
          <a:noFill/>
          <a:ln/>
        </p:spPr>
        <p:txBody>
          <a:bodyPr wrap="none" lIns="0" tIns="0" rIns="0" bIns="0" rtlCol="0" anchor="t"/>
          <a:lstStyle/>
          <a:p>
            <a:pPr algn="l" indent="0" marL="0">
              <a:lnSpc>
                <a:spcPct val="112000"/>
              </a:lnSpc>
              <a:buNone/>
            </a:pPr>
            <a:r>
              <a:rPr lang="en-US" sz="1400" dirty="0">
                <a:solidFill>
                  <a:srgbClr val="525E6B"/>
                </a:solidFill>
                <a:latin typeface="Public Sans" pitchFamily="34" charset="0"/>
                <a:ea typeface="Public Sans" pitchFamily="34" charset="-122"/>
                <a:cs typeface="Public Sans" pitchFamily="34" charset="0"/>
              </a:rPr>
              <a:t>Section 1 · Replacing the man with a machine</a:t>
            </a:r>
            <a:endParaRPr lang="en-US" sz="1400" dirty="0"/>
          </a:p>
        </p:txBody>
      </p:sp>
      <p:sp>
        <p:nvSpPr>
          <p:cNvPr id="4" name="Shape 2"/>
          <p:cNvSpPr/>
          <p:nvPr/>
        </p:nvSpPr>
        <p:spPr>
          <a:xfrm>
            <a:off x="457189" y="1578570"/>
            <a:ext cx="3911502" cy="4822230"/>
          </a:xfrm>
          <a:prstGeom prst="rect">
            <a:avLst/>
          </a:prstGeom>
          <a:solidFill>
            <a:srgbClr val="FFFFFF"/>
          </a:solidFill>
          <a:ln/>
        </p:spPr>
      </p:sp>
      <p:sp>
        <p:nvSpPr>
          <p:cNvPr id="5" name="Shape 3"/>
          <p:cNvSpPr/>
          <p:nvPr/>
        </p:nvSpPr>
        <p:spPr>
          <a:xfrm>
            <a:off x="457189" y="1578570"/>
            <a:ext cx="3911502" cy="38100"/>
          </a:xfrm>
          <a:prstGeom prst="rect">
            <a:avLst/>
          </a:prstGeom>
          <a:solidFill>
            <a:srgbClr val="14284B"/>
          </a:solidFill>
          <a:ln/>
        </p:spPr>
      </p:sp>
      <p:sp>
        <p:nvSpPr>
          <p:cNvPr id="6" name="Text 4"/>
          <p:cNvSpPr/>
          <p:nvPr/>
        </p:nvSpPr>
        <p:spPr>
          <a:xfrm>
            <a:off x="685783" y="1851738"/>
            <a:ext cx="3454314" cy="321270"/>
          </a:xfrm>
          <a:prstGeom prst="rect">
            <a:avLst/>
          </a:prstGeom>
          <a:noFill/>
          <a:ln/>
        </p:spPr>
        <p:txBody>
          <a:bodyPr wrap="none" lIns="0" tIns="0" rIns="0" bIns="0" rtlCol="0" anchor="t"/>
          <a:lstStyle/>
          <a:p>
            <a:pPr algn="l" indent="0" marL="0">
              <a:lnSpc>
                <a:spcPct val="96000"/>
              </a:lnSpc>
              <a:buNone/>
            </a:pPr>
            <a:r>
              <a:rPr lang="en-US" sz="2200" b="1" dirty="0">
                <a:solidFill>
                  <a:srgbClr val="14284B"/>
                </a:solidFill>
                <a:latin typeface="Bitter Bold" pitchFamily="34" charset="0"/>
                <a:ea typeface="Bitter Bold" pitchFamily="34" charset="-122"/>
                <a:cs typeface="Bitter Bold" pitchFamily="34" charset="0"/>
              </a:rPr>
              <a:t>The original party game</a:t>
            </a:r>
            <a:endParaRPr lang="en-US" sz="2200" dirty="0"/>
          </a:p>
        </p:txBody>
      </p:sp>
      <p:sp>
        <p:nvSpPr>
          <p:cNvPr id="7" name="Text 5"/>
          <p:cNvSpPr/>
          <p:nvPr/>
        </p:nvSpPr>
        <p:spPr>
          <a:xfrm>
            <a:off x="685783" y="2312114"/>
            <a:ext cx="3454314" cy="939105"/>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14284B"/>
                </a:solidFill>
                <a:latin typeface="Public Sans" pitchFamily="34" charset="0"/>
                <a:ea typeface="Public Sans" pitchFamily="34" charset="-122"/>
                <a:cs typeface="Public Sans" pitchFamily="34" charset="0"/>
              </a:rPr>
              <a:t>An interrogator questions a man and a woman in separate rooms to identify their sexes correctly.</a:t>
            </a:r>
            <a:endParaRPr lang="en-US" sz="1700" dirty="0"/>
          </a:p>
        </p:txBody>
      </p:sp>
      <p:sp>
        <p:nvSpPr>
          <p:cNvPr id="8" name="Shape 6"/>
          <p:cNvSpPr/>
          <p:nvPr/>
        </p:nvSpPr>
        <p:spPr>
          <a:xfrm>
            <a:off x="685783" y="3362821"/>
            <a:ext cx="1481200" cy="328116"/>
          </a:xfrm>
          <a:prstGeom prst="rect">
            <a:avLst/>
          </a:prstGeom>
          <a:solidFill>
            <a:srgbClr val="FFE01B"/>
          </a:solidFill>
          <a:ln/>
        </p:spPr>
      </p:sp>
      <p:sp>
        <p:nvSpPr>
          <p:cNvPr id="9" name="Text 7"/>
          <p:cNvSpPr/>
          <p:nvPr/>
        </p:nvSpPr>
        <p:spPr>
          <a:xfrm>
            <a:off x="806628" y="3433342"/>
            <a:ext cx="1849094" cy="207268"/>
          </a:xfrm>
          <a:prstGeom prst="rect">
            <a:avLst/>
          </a:prstGeom>
          <a:noFill/>
          <a:ln/>
        </p:spPr>
        <p:txBody>
          <a:bodyPr wrap="none" lIns="0" tIns="0" rIns="0" bIns="0" rtlCol="0" anchor="t"/>
          <a:lstStyle/>
          <a:p>
            <a:pPr algn="l" indent="0" marL="0">
              <a:lnSpc>
                <a:spcPct val="100000"/>
              </a:lnSpc>
              <a:buNone/>
            </a:pPr>
            <a:r>
              <a:rPr lang="en-US" sz="1350" b="1" spc="14" kern="100" dirty="0">
                <a:solidFill>
                  <a:srgbClr val="000000"/>
                </a:solidFill>
                <a:latin typeface="Public Sans Bold" pitchFamily="34" charset="0"/>
                <a:ea typeface="Public Sans Bold" pitchFamily="34" charset="-122"/>
                <a:cs typeface="Public Sans Bold" pitchFamily="34" charset="0"/>
              </a:rPr>
              <a:t>Baseline setup</a:t>
            </a:r>
            <a:endParaRPr lang="en-US" sz="1350" dirty="0"/>
          </a:p>
        </p:txBody>
      </p:sp>
      <p:pic>
        <p:nvPicPr>
          <p:cNvPr id="10" name="Image 0" descr="preencoded.png">    </p:cNvPr>
          <p:cNvPicPr>
            <a:picLocks noChangeAspect="1"/>
          </p:cNvPicPr>
          <p:nvPr/>
        </p:nvPicPr>
        <p:blipFill>
          <a:blip r:embed="rId1"/>
          <a:stretch>
            <a:fillRect/>
          </a:stretch>
        </p:blipFill>
        <p:spPr>
          <a:xfrm>
            <a:off x="685783" y="3690938"/>
            <a:ext cx="3454314" cy="2481263"/>
          </a:xfrm>
          <a:prstGeom prst="rect">
            <a:avLst/>
          </a:prstGeom>
        </p:spPr>
      </p:pic>
      <p:sp>
        <p:nvSpPr>
          <p:cNvPr id="11" name="Text 8"/>
          <p:cNvSpPr/>
          <p:nvPr/>
        </p:nvSpPr>
        <p:spPr>
          <a:xfrm>
            <a:off x="4673384" y="1813838"/>
            <a:ext cx="2844828" cy="480020"/>
          </a:xfrm>
          <a:prstGeom prst="rect">
            <a:avLst/>
          </a:prstGeom>
          <a:noFill/>
          <a:ln/>
        </p:spPr>
        <p:txBody>
          <a:bodyPr wrap="square" lIns="0" tIns="0" rIns="0" bIns="0" rtlCol="0" anchor="t">
            <a:normAutofit/>
          </a:bodyPr>
          <a:lstStyle/>
          <a:p>
            <a:pPr algn="l" indent="0" marL="0">
              <a:lnSpc>
                <a:spcPct val="112000"/>
              </a:lnSpc>
              <a:buNone/>
            </a:pPr>
            <a:r>
              <a:rPr lang="en-US" sz="1400" dirty="0">
                <a:solidFill>
                  <a:srgbClr val="525E6B"/>
                </a:solidFill>
                <a:latin typeface="Public Sans" pitchFamily="34" charset="0"/>
                <a:ea typeface="Public Sans" pitchFamily="34" charset="-122"/>
                <a:cs typeface="Public Sans" pitchFamily="34" charset="0"/>
              </a:rPr>
              <a:t>Man replaced by a digital computer</a:t>
            </a:r>
            <a:endParaRPr lang="en-US" sz="1400" dirty="0"/>
          </a:p>
        </p:txBody>
      </p:sp>
      <p:sp>
        <p:nvSpPr>
          <p:cNvPr id="12" name="Text 9"/>
          <p:cNvSpPr/>
          <p:nvPr/>
        </p:nvSpPr>
        <p:spPr>
          <a:xfrm>
            <a:off x="4673384" y="2523728"/>
            <a:ext cx="2844828" cy="660400"/>
          </a:xfrm>
          <a:prstGeom prst="rect">
            <a:avLst/>
          </a:prstGeom>
          <a:noFill/>
          <a:ln/>
        </p:spPr>
        <p:txBody>
          <a:bodyPr wrap="none" lIns="0" tIns="0" rIns="0" bIns="0" rtlCol="0" anchor="t"/>
          <a:lstStyle/>
          <a:p>
            <a:pPr algn="l" indent="0" marL="0">
              <a:lnSpc>
                <a:spcPct val="83000"/>
              </a:lnSpc>
              <a:buNone/>
            </a:pPr>
            <a:r>
              <a:rPr lang="en-US" sz="5200" spc="-78" kern="100" dirty="0">
                <a:solidFill>
                  <a:srgbClr val="14284B"/>
                </a:solidFill>
                <a:latin typeface="Bitter ExtraBold" pitchFamily="34" charset="0"/>
                <a:ea typeface="Bitter ExtraBold" pitchFamily="34" charset="-122"/>
                <a:cs typeface="Bitter ExtraBold" pitchFamily="34" charset="0"/>
              </a:rPr>
              <a:t>→</a:t>
            </a:r>
            <a:endParaRPr lang="en-US" sz="5200" dirty="0"/>
          </a:p>
        </p:txBody>
      </p:sp>
      <p:sp>
        <p:nvSpPr>
          <p:cNvPr id="13" name="Shape 10"/>
          <p:cNvSpPr/>
          <p:nvPr/>
        </p:nvSpPr>
        <p:spPr>
          <a:xfrm>
            <a:off x="7822905" y="1578570"/>
            <a:ext cx="3911601" cy="4822230"/>
          </a:xfrm>
          <a:prstGeom prst="rect">
            <a:avLst/>
          </a:prstGeom>
          <a:solidFill>
            <a:srgbClr val="FFFFFF"/>
          </a:solidFill>
          <a:ln/>
        </p:spPr>
      </p:sp>
      <p:sp>
        <p:nvSpPr>
          <p:cNvPr id="14" name="Shape 11"/>
          <p:cNvSpPr/>
          <p:nvPr/>
        </p:nvSpPr>
        <p:spPr>
          <a:xfrm>
            <a:off x="7822905" y="1578570"/>
            <a:ext cx="3911601" cy="38100"/>
          </a:xfrm>
          <a:prstGeom prst="rect">
            <a:avLst/>
          </a:prstGeom>
          <a:solidFill>
            <a:srgbClr val="14284B"/>
          </a:solidFill>
          <a:ln/>
        </p:spPr>
      </p:sp>
      <p:sp>
        <p:nvSpPr>
          <p:cNvPr id="15" name="Text 12"/>
          <p:cNvSpPr/>
          <p:nvPr/>
        </p:nvSpPr>
        <p:spPr>
          <a:xfrm>
            <a:off x="8051499" y="1851738"/>
            <a:ext cx="3454413" cy="642541"/>
          </a:xfrm>
          <a:prstGeom prst="rect">
            <a:avLst/>
          </a:prstGeom>
          <a:noFill/>
          <a:ln/>
        </p:spPr>
        <p:txBody>
          <a:bodyPr wrap="square" lIns="0" tIns="0" rIns="0" bIns="0" rtlCol="0" anchor="t">
            <a:normAutofit/>
          </a:bodyPr>
          <a:lstStyle/>
          <a:p>
            <a:pPr algn="l" indent="0" marL="0">
              <a:lnSpc>
                <a:spcPct val="96000"/>
              </a:lnSpc>
              <a:buNone/>
            </a:pPr>
            <a:r>
              <a:rPr lang="en-US" sz="2200" b="1" dirty="0">
                <a:solidFill>
                  <a:srgbClr val="14284B"/>
                </a:solidFill>
                <a:latin typeface="Bitter Bold" pitchFamily="34" charset="0"/>
                <a:ea typeface="Bitter Bold" pitchFamily="34" charset="-122"/>
                <a:cs typeface="Bitter Bold" pitchFamily="34" charset="0"/>
              </a:rPr>
              <a:t>The mechanical substitution</a:t>
            </a:r>
            <a:endParaRPr lang="en-US" sz="2200" dirty="0"/>
          </a:p>
        </p:txBody>
      </p:sp>
      <p:sp>
        <p:nvSpPr>
          <p:cNvPr id="16" name="Text 13"/>
          <p:cNvSpPr/>
          <p:nvPr/>
        </p:nvSpPr>
        <p:spPr>
          <a:xfrm>
            <a:off x="8051499" y="2633385"/>
            <a:ext cx="3454413" cy="939105"/>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14284B"/>
                </a:solidFill>
                <a:latin typeface="Public Sans" pitchFamily="34" charset="0"/>
                <a:ea typeface="Public Sans" pitchFamily="34" charset="-122"/>
                <a:cs typeface="Public Sans" pitchFamily="34" charset="0"/>
              </a:rPr>
              <a:t>A digital computer replaces the man. Does the interrogator err as often when a machine plays?</a:t>
            </a:r>
            <a:endParaRPr lang="en-US" sz="1700" dirty="0"/>
          </a:p>
        </p:txBody>
      </p:sp>
      <p:sp>
        <p:nvSpPr>
          <p:cNvPr id="17" name="Shape 14"/>
          <p:cNvSpPr/>
          <p:nvPr/>
        </p:nvSpPr>
        <p:spPr>
          <a:xfrm>
            <a:off x="8051499" y="3684091"/>
            <a:ext cx="2059134" cy="328116"/>
          </a:xfrm>
          <a:prstGeom prst="rect">
            <a:avLst/>
          </a:prstGeom>
          <a:solidFill>
            <a:srgbClr val="FFE01B"/>
          </a:solidFill>
          <a:ln/>
        </p:spPr>
      </p:sp>
      <p:sp>
        <p:nvSpPr>
          <p:cNvPr id="18" name="Text 15"/>
          <p:cNvSpPr/>
          <p:nvPr/>
        </p:nvSpPr>
        <p:spPr>
          <a:xfrm>
            <a:off x="8172345" y="3754612"/>
            <a:ext cx="2427028" cy="207268"/>
          </a:xfrm>
          <a:prstGeom prst="rect">
            <a:avLst/>
          </a:prstGeom>
          <a:noFill/>
          <a:ln/>
        </p:spPr>
        <p:txBody>
          <a:bodyPr wrap="none" lIns="0" tIns="0" rIns="0" bIns="0" rtlCol="0" anchor="t"/>
          <a:lstStyle/>
          <a:p>
            <a:pPr algn="l" indent="0" marL="0">
              <a:lnSpc>
                <a:spcPct val="100000"/>
              </a:lnSpc>
              <a:buNone/>
            </a:pPr>
            <a:r>
              <a:rPr lang="en-US" sz="1350" b="1" spc="14" kern="100" dirty="0">
                <a:solidFill>
                  <a:srgbClr val="000000"/>
                </a:solidFill>
                <a:latin typeface="Public Sans Bold" pitchFamily="34" charset="0"/>
                <a:ea typeface="Public Sans Bold" pitchFamily="34" charset="-122"/>
                <a:cs typeface="Public Sans Bold" pitchFamily="34" charset="0"/>
              </a:rPr>
              <a:t>Turing's new question</a:t>
            </a:r>
            <a:endParaRPr lang="en-US" sz="1350" dirty="0"/>
          </a:p>
        </p:txBody>
      </p:sp>
      <p:pic>
        <p:nvPicPr>
          <p:cNvPr id="19" name="Image 1" descr="preencoded.png">    </p:cNvPr>
          <p:cNvPicPr>
            <a:picLocks noChangeAspect="1"/>
          </p:cNvPicPr>
          <p:nvPr/>
        </p:nvPicPr>
        <p:blipFill>
          <a:blip r:embed="rId2"/>
          <a:stretch>
            <a:fillRect/>
          </a:stretch>
        </p:blipFill>
        <p:spPr>
          <a:xfrm>
            <a:off x="8051499" y="4012208"/>
            <a:ext cx="3454413" cy="215999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470288" cy="6858000"/>
          </a:xfrm>
          <a:prstGeom prst="rect">
            <a:avLst/>
          </a:prstGeom>
        </p:spPr>
      </p:pic>
      <p:sp>
        <p:nvSpPr>
          <p:cNvPr id="3" name="Text 0"/>
          <p:cNvSpPr/>
          <p:nvPr/>
        </p:nvSpPr>
        <p:spPr>
          <a:xfrm>
            <a:off x="4927477" y="491236"/>
            <a:ext cx="6807030" cy="1013420"/>
          </a:xfrm>
          <a:prstGeom prst="rect">
            <a:avLst/>
          </a:prstGeom>
          <a:noFill/>
          <a:ln/>
        </p:spPr>
        <p:txBody>
          <a:bodyPr wrap="square" lIns="0" tIns="0" rIns="0" bIns="0" rtlCol="0" anchor="t">
            <a:normAutofit/>
          </a:bodyPr>
          <a:lstStyle/>
          <a:p>
            <a:pPr algn="l" indent="0" marL="0">
              <a:lnSpc>
                <a:spcPct val="87000"/>
              </a:lnSpc>
              <a:buNone/>
            </a:pPr>
            <a:r>
              <a:rPr lang="en-US" sz="3800" spc="-38" kern="100" dirty="0">
                <a:solidFill>
                  <a:srgbClr val="14284B"/>
                </a:solidFill>
                <a:latin typeface="Bitter ExtraBold" pitchFamily="34" charset="0"/>
                <a:ea typeface="Bitter ExtraBold" pitchFamily="34" charset="-122"/>
                <a:cs typeface="Bitter ExtraBold" pitchFamily="34" charset="0"/>
              </a:rPr>
              <a:t>Conversation isolates intellectual performance</a:t>
            </a:r>
            <a:endParaRPr lang="en-US" sz="3800" dirty="0"/>
          </a:p>
        </p:txBody>
      </p:sp>
      <p:sp>
        <p:nvSpPr>
          <p:cNvPr id="4" name="Shape 1"/>
          <p:cNvSpPr/>
          <p:nvPr/>
        </p:nvSpPr>
        <p:spPr>
          <a:xfrm>
            <a:off x="4927477" y="1667470"/>
            <a:ext cx="6807030" cy="4733330"/>
          </a:xfrm>
          <a:prstGeom prst="rect">
            <a:avLst/>
          </a:prstGeom>
          <a:solidFill>
            <a:srgbClr val="FFFFFF"/>
          </a:solidFill>
          <a:ln/>
        </p:spPr>
      </p:sp>
      <p:sp>
        <p:nvSpPr>
          <p:cNvPr id="5" name="Shape 2"/>
          <p:cNvSpPr/>
          <p:nvPr/>
        </p:nvSpPr>
        <p:spPr>
          <a:xfrm>
            <a:off x="4927477" y="1667470"/>
            <a:ext cx="6807030" cy="38100"/>
          </a:xfrm>
          <a:prstGeom prst="rect">
            <a:avLst/>
          </a:prstGeom>
          <a:solidFill>
            <a:srgbClr val="14284B"/>
          </a:solidFill>
          <a:ln/>
        </p:spPr>
      </p:sp>
      <p:sp>
        <p:nvSpPr>
          <p:cNvPr id="6" name="Text 3"/>
          <p:cNvSpPr/>
          <p:nvPr/>
        </p:nvSpPr>
        <p:spPr>
          <a:xfrm>
            <a:off x="5156071" y="2766634"/>
            <a:ext cx="6349841" cy="321270"/>
          </a:xfrm>
          <a:prstGeom prst="rect">
            <a:avLst/>
          </a:prstGeom>
          <a:noFill/>
          <a:ln/>
        </p:spPr>
        <p:txBody>
          <a:bodyPr wrap="none" lIns="0" tIns="0" rIns="0" bIns="0" rtlCol="0" anchor="t"/>
          <a:lstStyle/>
          <a:p>
            <a:pPr algn="l" indent="0" marL="0">
              <a:lnSpc>
                <a:spcPct val="96000"/>
              </a:lnSpc>
              <a:buNone/>
            </a:pPr>
            <a:r>
              <a:rPr lang="en-US" sz="2200" b="1" dirty="0">
                <a:solidFill>
                  <a:srgbClr val="14284B"/>
                </a:solidFill>
                <a:latin typeface="Bitter Bold" pitchFamily="34" charset="0"/>
                <a:ea typeface="Bitter Bold" pitchFamily="34" charset="-122"/>
                <a:cs typeface="Bitter Bold" pitchFamily="34" charset="0"/>
              </a:rPr>
              <a:t>Section 2 · Critique of the new problem</a:t>
            </a:r>
            <a:endParaRPr lang="en-US" sz="2200" dirty="0"/>
          </a:p>
        </p:txBody>
      </p:sp>
      <p:sp>
        <p:nvSpPr>
          <p:cNvPr id="7" name="Text 4"/>
          <p:cNvSpPr/>
          <p:nvPr/>
        </p:nvSpPr>
        <p:spPr>
          <a:xfrm>
            <a:off x="5156071" y="3224312"/>
            <a:ext cx="6349841" cy="1679476"/>
          </a:xfrm>
          <a:prstGeom prst="rect">
            <a:avLst/>
          </a:prstGeom>
          <a:noFill/>
          <a:ln/>
        </p:spPr>
        <p:txBody>
          <a:bodyPr wrap="square" lIns="0" tIns="0" rIns="0" bIns="0" rtlCol="0" anchor="t">
            <a:normAutofit/>
          </a:bodyPr>
          <a:lstStyle/>
          <a:p>
            <a:pPr algn="l" indent="0" marL="0">
              <a:lnSpc>
                <a:spcPct val="121000"/>
              </a:lnSpc>
              <a:spcAft>
                <a:spcPts val="850"/>
              </a:spcAft>
              <a:buNone/>
            </a:pPr>
            <a:r>
              <a:rPr lang="en-US" sz="1700" dirty="0">
                <a:solidFill>
                  <a:srgbClr val="14284B"/>
                </a:solidFill>
                <a:latin typeface="Public Sans" pitchFamily="34" charset="0"/>
                <a:ea typeface="Public Sans" pitchFamily="34" charset="-122"/>
                <a:cs typeface="Public Sans" pitchFamily="34" charset="0"/>
              </a:rPr>
              <a:t>A separated interrogator exchanges typed questions and answers with a human and a machine.</a:t>
            </a:r>
            <a:endParaRPr lang="en-US" sz="1700" dirty="0"/>
          </a:p>
          <a:p>
            <a:pPr algn="l" indent="0" marL="0">
              <a:lnSpc>
                <a:spcPct val="121000"/>
              </a:lnSpc>
              <a:buNone/>
            </a:pPr>
            <a:r>
              <a:rPr lang="en-US" sz="1700" dirty="0">
                <a:solidFill>
                  <a:srgbClr val="14284B"/>
                </a:solidFill>
                <a:latin typeface="Public Sans" pitchFamily="34" charset="0"/>
                <a:ea typeface="Public Sans" pitchFamily="34" charset="-122"/>
                <a:cs typeface="Public Sans" pitchFamily="34" charset="0"/>
              </a:rPr>
              <a:t>Without appearance, voice tone or biological identity, the test evaluates conversational mental capacity without requiring human physical embodiment.</a:t>
            </a:r>
            <a:endParaRPr lang="en-US" sz="1700" dirty="0"/>
          </a:p>
        </p:txBody>
      </p:sp>
      <p:sp>
        <p:nvSpPr>
          <p:cNvPr id="8" name="Shape 5"/>
          <p:cNvSpPr/>
          <p:nvPr/>
        </p:nvSpPr>
        <p:spPr>
          <a:xfrm>
            <a:off x="5156071" y="5018088"/>
            <a:ext cx="2057845" cy="328116"/>
          </a:xfrm>
          <a:prstGeom prst="rect">
            <a:avLst/>
          </a:prstGeom>
          <a:solidFill>
            <a:srgbClr val="FFE01B"/>
          </a:solidFill>
          <a:ln/>
        </p:spPr>
      </p:sp>
      <p:sp>
        <p:nvSpPr>
          <p:cNvPr id="9" name="Text 6"/>
          <p:cNvSpPr/>
          <p:nvPr/>
        </p:nvSpPr>
        <p:spPr>
          <a:xfrm>
            <a:off x="5276916" y="5088608"/>
            <a:ext cx="2425739" cy="207268"/>
          </a:xfrm>
          <a:prstGeom prst="rect">
            <a:avLst/>
          </a:prstGeom>
          <a:noFill/>
          <a:ln/>
        </p:spPr>
        <p:txBody>
          <a:bodyPr wrap="none" lIns="0" tIns="0" rIns="0" bIns="0" rtlCol="0" anchor="t"/>
          <a:lstStyle/>
          <a:p>
            <a:pPr algn="l" indent="0" marL="0">
              <a:lnSpc>
                <a:spcPct val="100000"/>
              </a:lnSpc>
              <a:buNone/>
            </a:pPr>
            <a:r>
              <a:rPr lang="en-US" sz="1350" b="1" spc="14" kern="100" dirty="0">
                <a:solidFill>
                  <a:srgbClr val="000000"/>
                </a:solidFill>
                <a:latin typeface="Public Sans Bold" pitchFamily="34" charset="0"/>
                <a:ea typeface="Public Sans Bold" pitchFamily="34" charset="-122"/>
                <a:cs typeface="Public Sans Bold" pitchFamily="34" charset="0"/>
              </a:rPr>
              <a:t>Pure symbolic inquiry</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491236"/>
            <a:ext cx="11277318" cy="506710"/>
          </a:xfrm>
          <a:prstGeom prst="rect">
            <a:avLst/>
          </a:prstGeom>
          <a:noFill/>
          <a:ln/>
        </p:spPr>
        <p:txBody>
          <a:bodyPr wrap="none" lIns="0" tIns="0" rIns="0" bIns="0" rtlCol="0" anchor="t"/>
          <a:lstStyle/>
          <a:p>
            <a:pPr algn="l" indent="0" marL="0">
              <a:lnSpc>
                <a:spcPct val="87000"/>
              </a:lnSpc>
              <a:buNone/>
            </a:pPr>
            <a:r>
              <a:rPr lang="en-US" sz="3800" spc="-38" kern="100" dirty="0">
                <a:solidFill>
                  <a:srgbClr val="14284B"/>
                </a:solidFill>
                <a:latin typeface="Bitter ExtraBold" pitchFamily="34" charset="0"/>
                <a:ea typeface="Bitter ExtraBold" pitchFamily="34" charset="-122"/>
                <a:cs typeface="Bitter ExtraBold" pitchFamily="34" charset="0"/>
              </a:rPr>
              <a:t>One computer can imitate many machines</a:t>
            </a:r>
            <a:endParaRPr lang="en-US" sz="3800" dirty="0"/>
          </a:p>
        </p:txBody>
      </p:sp>
      <p:sp>
        <p:nvSpPr>
          <p:cNvPr id="3" name="Text 1"/>
          <p:cNvSpPr/>
          <p:nvPr/>
        </p:nvSpPr>
        <p:spPr>
          <a:xfrm>
            <a:off x="457189" y="1167428"/>
            <a:ext cx="11734506" cy="240010"/>
          </a:xfrm>
          <a:prstGeom prst="rect">
            <a:avLst/>
          </a:prstGeom>
          <a:noFill/>
          <a:ln/>
        </p:spPr>
        <p:txBody>
          <a:bodyPr wrap="none" lIns="0" tIns="0" rIns="0" bIns="0" rtlCol="0" anchor="t"/>
          <a:lstStyle/>
          <a:p>
            <a:pPr algn="l" indent="0" marL="0">
              <a:lnSpc>
                <a:spcPct val="112000"/>
              </a:lnSpc>
              <a:buNone/>
            </a:pPr>
            <a:r>
              <a:rPr lang="en-US" sz="1400" dirty="0">
                <a:solidFill>
                  <a:srgbClr val="525E6B"/>
                </a:solidFill>
                <a:latin typeface="Public Sans" pitchFamily="34" charset="0"/>
                <a:ea typeface="Public Sans" pitchFamily="34" charset="-122"/>
                <a:cs typeface="Public Sans" pitchFamily="34" charset="0"/>
              </a:rPr>
              <a:t>Section 4 · Digital computers and universality</a:t>
            </a:r>
            <a:endParaRPr lang="en-US" sz="1400" dirty="0"/>
          </a:p>
        </p:txBody>
      </p:sp>
      <p:sp>
        <p:nvSpPr>
          <p:cNvPr id="4" name="Shape 2"/>
          <p:cNvSpPr/>
          <p:nvPr/>
        </p:nvSpPr>
        <p:spPr>
          <a:xfrm>
            <a:off x="457189" y="2417266"/>
            <a:ext cx="3383176" cy="2967037"/>
          </a:xfrm>
          <a:prstGeom prst="rect">
            <a:avLst/>
          </a:prstGeom>
          <a:solidFill>
            <a:srgbClr val="FFFFFF"/>
          </a:solidFill>
          <a:ln/>
        </p:spPr>
      </p:sp>
      <p:sp>
        <p:nvSpPr>
          <p:cNvPr id="5" name="Shape 3"/>
          <p:cNvSpPr/>
          <p:nvPr/>
        </p:nvSpPr>
        <p:spPr>
          <a:xfrm>
            <a:off x="457189" y="2417266"/>
            <a:ext cx="3383176" cy="38100"/>
          </a:xfrm>
          <a:prstGeom prst="rect">
            <a:avLst/>
          </a:prstGeom>
          <a:solidFill>
            <a:srgbClr val="14284B"/>
          </a:solidFill>
          <a:ln/>
        </p:spPr>
      </p:sp>
      <p:sp>
        <p:nvSpPr>
          <p:cNvPr id="6" name="Text 4"/>
          <p:cNvSpPr/>
          <p:nvPr/>
        </p:nvSpPr>
        <p:spPr>
          <a:xfrm>
            <a:off x="685783" y="2690434"/>
            <a:ext cx="2925987" cy="321270"/>
          </a:xfrm>
          <a:prstGeom prst="rect">
            <a:avLst/>
          </a:prstGeom>
          <a:noFill/>
          <a:ln/>
        </p:spPr>
        <p:txBody>
          <a:bodyPr wrap="none" lIns="0" tIns="0" rIns="0" bIns="0" rtlCol="0" anchor="t"/>
          <a:lstStyle/>
          <a:p>
            <a:pPr algn="l" indent="0" marL="0">
              <a:lnSpc>
                <a:spcPct val="96000"/>
              </a:lnSpc>
              <a:buNone/>
            </a:pPr>
            <a:r>
              <a:rPr lang="en-US" sz="2200" b="1" dirty="0">
                <a:solidFill>
                  <a:srgbClr val="14284B"/>
                </a:solidFill>
                <a:latin typeface="Bitter Bold" pitchFamily="34" charset="0"/>
                <a:ea typeface="Bitter Bold" pitchFamily="34" charset="-122"/>
                <a:cs typeface="Bitter Bold" pitchFamily="34" charset="0"/>
              </a:rPr>
              <a:t>Store</a:t>
            </a:r>
            <a:endParaRPr lang="en-US" sz="2200" dirty="0"/>
          </a:p>
        </p:txBody>
      </p:sp>
      <p:sp>
        <p:nvSpPr>
          <p:cNvPr id="7" name="Text 5"/>
          <p:cNvSpPr/>
          <p:nvPr/>
        </p:nvSpPr>
        <p:spPr>
          <a:xfrm>
            <a:off x="685783" y="3150810"/>
            <a:ext cx="2925987" cy="1252141"/>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14284B"/>
                </a:solidFill>
                <a:latin typeface="Public Sans" pitchFamily="34" charset="0"/>
                <a:ea typeface="Public Sans" pitchFamily="34" charset="-122"/>
                <a:cs typeface="Public Sans" pitchFamily="34" charset="0"/>
              </a:rPr>
              <a:t>Information capacity holding instructions, tables, and working intermediate variables.</a:t>
            </a:r>
            <a:endParaRPr lang="en-US" sz="1700" dirty="0"/>
          </a:p>
        </p:txBody>
      </p:sp>
      <p:sp>
        <p:nvSpPr>
          <p:cNvPr id="8" name="Text 6"/>
          <p:cNvSpPr/>
          <p:nvPr/>
        </p:nvSpPr>
        <p:spPr>
          <a:xfrm>
            <a:off x="3840364" y="3571994"/>
            <a:ext cx="751762" cy="662880"/>
          </a:xfrm>
          <a:prstGeom prst="rect">
            <a:avLst/>
          </a:prstGeom>
          <a:noFill/>
          <a:ln/>
        </p:spPr>
        <p:txBody>
          <a:bodyPr wrap="square" lIns="0" tIns="0" rIns="0" bIns="0" rtlCol="0" anchor="t">
            <a:normAutofit/>
          </a:bodyPr>
          <a:lstStyle/>
          <a:p>
            <a:pPr algn="l" indent="0" marL="0">
              <a:lnSpc>
                <a:spcPct val="121000"/>
              </a:lnSpc>
              <a:buNone/>
            </a:pPr>
            <a:r>
              <a:rPr lang="en-US" sz="3600" dirty="0">
                <a:solidFill>
                  <a:srgbClr val="14284B"/>
                </a:solidFill>
                <a:latin typeface="Public Sans" pitchFamily="34" charset="0"/>
                <a:ea typeface="Public Sans" pitchFamily="34" charset="-122"/>
                <a:cs typeface="Public Sans" pitchFamily="34" charset="0"/>
              </a:rPr>
              <a:t>→</a:t>
            </a:r>
            <a:endParaRPr lang="en-US" sz="1700" dirty="0"/>
          </a:p>
        </p:txBody>
      </p:sp>
      <p:sp>
        <p:nvSpPr>
          <p:cNvPr id="9" name="Shape 7"/>
          <p:cNvSpPr/>
          <p:nvPr/>
        </p:nvSpPr>
        <p:spPr>
          <a:xfrm>
            <a:off x="4592126" y="2417266"/>
            <a:ext cx="3383275" cy="2967037"/>
          </a:xfrm>
          <a:prstGeom prst="rect">
            <a:avLst/>
          </a:prstGeom>
          <a:solidFill>
            <a:srgbClr val="FFFFFF"/>
          </a:solidFill>
          <a:ln/>
        </p:spPr>
      </p:sp>
      <p:sp>
        <p:nvSpPr>
          <p:cNvPr id="10" name="Shape 8"/>
          <p:cNvSpPr/>
          <p:nvPr/>
        </p:nvSpPr>
        <p:spPr>
          <a:xfrm>
            <a:off x="4592126" y="2417266"/>
            <a:ext cx="3383275" cy="38100"/>
          </a:xfrm>
          <a:prstGeom prst="rect">
            <a:avLst/>
          </a:prstGeom>
          <a:solidFill>
            <a:srgbClr val="14284B"/>
          </a:solidFill>
          <a:ln/>
        </p:spPr>
      </p:sp>
      <p:sp>
        <p:nvSpPr>
          <p:cNvPr id="11" name="Text 9"/>
          <p:cNvSpPr/>
          <p:nvPr/>
        </p:nvSpPr>
        <p:spPr>
          <a:xfrm>
            <a:off x="4820720" y="2690434"/>
            <a:ext cx="2926086" cy="321270"/>
          </a:xfrm>
          <a:prstGeom prst="rect">
            <a:avLst/>
          </a:prstGeom>
          <a:noFill/>
          <a:ln/>
        </p:spPr>
        <p:txBody>
          <a:bodyPr wrap="none" lIns="0" tIns="0" rIns="0" bIns="0" rtlCol="0" anchor="t"/>
          <a:lstStyle/>
          <a:p>
            <a:pPr algn="l" indent="0" marL="0">
              <a:lnSpc>
                <a:spcPct val="96000"/>
              </a:lnSpc>
              <a:buNone/>
            </a:pPr>
            <a:r>
              <a:rPr lang="en-US" sz="2200" b="1" dirty="0">
                <a:solidFill>
                  <a:srgbClr val="14284B"/>
                </a:solidFill>
                <a:latin typeface="Bitter Bold" pitchFamily="34" charset="0"/>
                <a:ea typeface="Bitter Bold" pitchFamily="34" charset="-122"/>
                <a:cs typeface="Bitter Bold" pitchFamily="34" charset="0"/>
              </a:rPr>
              <a:t>Executive unit</a:t>
            </a:r>
            <a:endParaRPr lang="en-US" sz="2200" dirty="0"/>
          </a:p>
        </p:txBody>
      </p:sp>
      <p:sp>
        <p:nvSpPr>
          <p:cNvPr id="12" name="Text 10"/>
          <p:cNvSpPr/>
          <p:nvPr/>
        </p:nvSpPr>
        <p:spPr>
          <a:xfrm>
            <a:off x="4820720" y="3150810"/>
            <a:ext cx="2926086" cy="1252141"/>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14284B"/>
                </a:solidFill>
                <a:latin typeface="Public Sans" pitchFamily="34" charset="0"/>
                <a:ea typeface="Public Sans" pitchFamily="34" charset="-122"/>
                <a:cs typeface="Public Sans" pitchFamily="34" charset="0"/>
              </a:rPr>
              <a:t>The central mechanism carrying out individual elementary operations in sequence.</a:t>
            </a:r>
            <a:endParaRPr lang="en-US" sz="1700" dirty="0"/>
          </a:p>
        </p:txBody>
      </p:sp>
      <p:sp>
        <p:nvSpPr>
          <p:cNvPr id="13" name="Text 11"/>
          <p:cNvSpPr/>
          <p:nvPr/>
        </p:nvSpPr>
        <p:spPr>
          <a:xfrm>
            <a:off x="7975400" y="3571994"/>
            <a:ext cx="751762" cy="662880"/>
          </a:xfrm>
          <a:prstGeom prst="rect">
            <a:avLst/>
          </a:prstGeom>
          <a:noFill/>
          <a:ln/>
        </p:spPr>
        <p:txBody>
          <a:bodyPr wrap="square" lIns="0" tIns="0" rIns="0" bIns="0" rtlCol="0" anchor="t">
            <a:normAutofit/>
          </a:bodyPr>
          <a:lstStyle/>
          <a:p>
            <a:pPr algn="l" indent="0" marL="0">
              <a:lnSpc>
                <a:spcPct val="121000"/>
              </a:lnSpc>
              <a:buNone/>
            </a:pPr>
            <a:r>
              <a:rPr lang="en-US" sz="3600" dirty="0">
                <a:solidFill>
                  <a:srgbClr val="14284B"/>
                </a:solidFill>
                <a:latin typeface="Public Sans" pitchFamily="34" charset="0"/>
                <a:ea typeface="Public Sans" pitchFamily="34" charset="-122"/>
                <a:cs typeface="Public Sans" pitchFamily="34" charset="0"/>
              </a:rPr>
              <a:t>→</a:t>
            </a:r>
            <a:endParaRPr lang="en-US" sz="1700" dirty="0"/>
          </a:p>
        </p:txBody>
      </p:sp>
      <p:sp>
        <p:nvSpPr>
          <p:cNvPr id="14" name="Shape 12"/>
          <p:cNvSpPr/>
          <p:nvPr/>
        </p:nvSpPr>
        <p:spPr>
          <a:xfrm>
            <a:off x="8727162" y="2417266"/>
            <a:ext cx="3007344" cy="2967037"/>
          </a:xfrm>
          <a:prstGeom prst="rect">
            <a:avLst/>
          </a:prstGeom>
          <a:solidFill>
            <a:srgbClr val="FFFFFF"/>
          </a:solidFill>
          <a:ln/>
        </p:spPr>
      </p:sp>
      <p:sp>
        <p:nvSpPr>
          <p:cNvPr id="15" name="Shape 13"/>
          <p:cNvSpPr/>
          <p:nvPr/>
        </p:nvSpPr>
        <p:spPr>
          <a:xfrm>
            <a:off x="8727162" y="2417266"/>
            <a:ext cx="3007344" cy="38100"/>
          </a:xfrm>
          <a:prstGeom prst="rect">
            <a:avLst/>
          </a:prstGeom>
          <a:solidFill>
            <a:srgbClr val="14284B"/>
          </a:solidFill>
          <a:ln/>
        </p:spPr>
      </p:sp>
      <p:sp>
        <p:nvSpPr>
          <p:cNvPr id="16" name="Text 14"/>
          <p:cNvSpPr/>
          <p:nvPr/>
        </p:nvSpPr>
        <p:spPr>
          <a:xfrm>
            <a:off x="8955756" y="2690434"/>
            <a:ext cx="2550156" cy="321270"/>
          </a:xfrm>
          <a:prstGeom prst="rect">
            <a:avLst/>
          </a:prstGeom>
          <a:noFill/>
          <a:ln/>
        </p:spPr>
        <p:txBody>
          <a:bodyPr wrap="none" lIns="0" tIns="0" rIns="0" bIns="0" rtlCol="0" anchor="t"/>
          <a:lstStyle/>
          <a:p>
            <a:pPr algn="l" indent="0" marL="0">
              <a:lnSpc>
                <a:spcPct val="96000"/>
              </a:lnSpc>
              <a:buNone/>
            </a:pPr>
            <a:r>
              <a:rPr lang="en-US" sz="2200" b="1" dirty="0">
                <a:solidFill>
                  <a:srgbClr val="14284B"/>
                </a:solidFill>
                <a:latin typeface="Bitter Bold" pitchFamily="34" charset="0"/>
                <a:ea typeface="Bitter Bold" pitchFamily="34" charset="-122"/>
                <a:cs typeface="Bitter Bold" pitchFamily="34" charset="0"/>
              </a:rPr>
              <a:t>Control</a:t>
            </a:r>
            <a:endParaRPr lang="en-US" sz="2200" dirty="0"/>
          </a:p>
        </p:txBody>
      </p:sp>
      <p:sp>
        <p:nvSpPr>
          <p:cNvPr id="17" name="Text 15"/>
          <p:cNvSpPr/>
          <p:nvPr/>
        </p:nvSpPr>
        <p:spPr>
          <a:xfrm>
            <a:off x="8955756" y="3150810"/>
            <a:ext cx="2550156" cy="1565176"/>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14284B"/>
                </a:solidFill>
                <a:latin typeface="Public Sans" pitchFamily="34" charset="0"/>
                <a:ea typeface="Public Sans" pitchFamily="34" charset="-122"/>
                <a:cs typeface="Public Sans" pitchFamily="34" charset="0"/>
              </a:rPr>
              <a:t>The system ensuring operating instructions execute strictly according to programmed order.</a:t>
            </a:r>
            <a:endParaRPr lang="en-US" sz="1700" dirty="0"/>
          </a:p>
        </p:txBody>
      </p:sp>
      <p:sp>
        <p:nvSpPr>
          <p:cNvPr id="18" name="Shape 16"/>
          <p:cNvSpPr/>
          <p:nvPr/>
        </p:nvSpPr>
        <p:spPr>
          <a:xfrm>
            <a:off x="8955756" y="4827588"/>
            <a:ext cx="1823992" cy="328116"/>
          </a:xfrm>
          <a:prstGeom prst="rect">
            <a:avLst/>
          </a:prstGeom>
          <a:solidFill>
            <a:srgbClr val="FFE01B"/>
          </a:solidFill>
          <a:ln/>
        </p:spPr>
      </p:sp>
      <p:sp>
        <p:nvSpPr>
          <p:cNvPr id="19" name="Text 17"/>
          <p:cNvSpPr/>
          <p:nvPr/>
        </p:nvSpPr>
        <p:spPr>
          <a:xfrm>
            <a:off x="9076602" y="4898108"/>
            <a:ext cx="2191886" cy="207268"/>
          </a:xfrm>
          <a:prstGeom prst="rect">
            <a:avLst/>
          </a:prstGeom>
          <a:noFill/>
          <a:ln/>
        </p:spPr>
        <p:txBody>
          <a:bodyPr wrap="none" lIns="0" tIns="0" rIns="0" bIns="0" rtlCol="0" anchor="t"/>
          <a:lstStyle/>
          <a:p>
            <a:pPr algn="l" indent="0" marL="0">
              <a:lnSpc>
                <a:spcPct val="100000"/>
              </a:lnSpc>
              <a:buNone/>
            </a:pPr>
            <a:r>
              <a:rPr lang="en-US" sz="1350" b="1" spc="14" kern="100" dirty="0">
                <a:solidFill>
                  <a:srgbClr val="000000"/>
                </a:solidFill>
                <a:latin typeface="Public Sans Bold" pitchFamily="34" charset="0"/>
                <a:ea typeface="Public Sans Bold" pitchFamily="34" charset="-122"/>
                <a:cs typeface="Public Sans Bold" pitchFamily="34" charset="0"/>
              </a:rPr>
              <a:t>Universal imitation</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491236"/>
            <a:ext cx="11277318" cy="506710"/>
          </a:xfrm>
          <a:prstGeom prst="rect">
            <a:avLst/>
          </a:prstGeom>
          <a:noFill/>
          <a:ln/>
        </p:spPr>
        <p:txBody>
          <a:bodyPr wrap="none" lIns="0" tIns="0" rIns="0" bIns="0" rtlCol="0" anchor="t"/>
          <a:lstStyle/>
          <a:p>
            <a:pPr algn="l" indent="0" marL="0">
              <a:lnSpc>
                <a:spcPct val="87000"/>
              </a:lnSpc>
              <a:buNone/>
            </a:pPr>
            <a:r>
              <a:rPr lang="en-US" sz="3800" spc="-38" kern="100" dirty="0">
                <a:solidFill>
                  <a:srgbClr val="14284B"/>
                </a:solidFill>
                <a:latin typeface="Bitter ExtraBold" pitchFamily="34" charset="0"/>
                <a:ea typeface="Bitter ExtraBold" pitchFamily="34" charset="-122"/>
                <a:cs typeface="Bitter ExtraBold" pitchFamily="34" charset="0"/>
              </a:rPr>
              <a:t>Turing predicted progress, not proof</a:t>
            </a:r>
            <a:endParaRPr lang="en-US" sz="3800" dirty="0"/>
          </a:p>
        </p:txBody>
      </p:sp>
      <p:sp>
        <p:nvSpPr>
          <p:cNvPr id="3" name="Text 1"/>
          <p:cNvSpPr/>
          <p:nvPr/>
        </p:nvSpPr>
        <p:spPr>
          <a:xfrm>
            <a:off x="457189" y="2852143"/>
            <a:ext cx="6131367" cy="1117600"/>
          </a:xfrm>
          <a:prstGeom prst="rect">
            <a:avLst/>
          </a:prstGeom>
          <a:noFill/>
          <a:ln/>
        </p:spPr>
        <p:txBody>
          <a:bodyPr wrap="none" lIns="0" tIns="0" rIns="0" bIns="0" rtlCol="0" anchor="t"/>
          <a:lstStyle/>
          <a:p>
            <a:pPr algn="l" indent="0" marL="0">
              <a:lnSpc>
                <a:spcPct val="83000"/>
              </a:lnSpc>
              <a:buNone/>
            </a:pPr>
            <a:r>
              <a:rPr lang="en-US" sz="8800" spc="-132" kern="100" dirty="0">
                <a:solidFill>
                  <a:srgbClr val="14284B"/>
                </a:solidFill>
                <a:latin typeface="Bitter ExtraBold" pitchFamily="34" charset="0"/>
                <a:ea typeface="Bitter ExtraBold" pitchFamily="34" charset="-122"/>
                <a:cs typeface="Bitter ExtraBold" pitchFamily="34" charset="0"/>
              </a:rPr>
              <a:t>70%</a:t>
            </a:r>
            <a:endParaRPr lang="en-US" sz="8800" dirty="0"/>
          </a:p>
        </p:txBody>
      </p:sp>
      <p:sp>
        <p:nvSpPr>
          <p:cNvPr id="4" name="Text 2"/>
          <p:cNvSpPr/>
          <p:nvPr/>
        </p:nvSpPr>
        <p:spPr>
          <a:xfrm>
            <a:off x="457189" y="4069755"/>
            <a:ext cx="6131367" cy="736600"/>
          </a:xfrm>
          <a:prstGeom prst="rect">
            <a:avLst/>
          </a:prstGeom>
          <a:noFill/>
          <a:ln/>
        </p:spPr>
        <p:txBody>
          <a:bodyPr wrap="square" lIns="0" tIns="0" rIns="0" bIns="0" rtlCol="0" anchor="t">
            <a:normAutofit/>
          </a:bodyPr>
          <a:lstStyle/>
          <a:p>
            <a:pPr algn="l" indent="0" marL="0">
              <a:lnSpc>
                <a:spcPct val="121000"/>
              </a:lnSpc>
              <a:buNone/>
            </a:pPr>
            <a:r>
              <a:rPr lang="en-US" sz="2000" dirty="0">
                <a:solidFill>
                  <a:srgbClr val="14284B"/>
                </a:solidFill>
                <a:latin typeface="Public Sans" pitchFamily="34" charset="0"/>
                <a:ea typeface="Public Sans" pitchFamily="34" charset="-122"/>
                <a:cs typeface="Public Sans" pitchFamily="34" charset="0"/>
              </a:rPr>
              <a:t>maximum expected accuracy for an average interrogator after five minutes of questioning</a:t>
            </a:r>
            <a:endParaRPr lang="en-US" sz="2000" dirty="0"/>
          </a:p>
        </p:txBody>
      </p:sp>
      <p:sp>
        <p:nvSpPr>
          <p:cNvPr id="5" name="Text 3"/>
          <p:cNvSpPr/>
          <p:nvPr/>
        </p:nvSpPr>
        <p:spPr>
          <a:xfrm>
            <a:off x="7045645" y="1302140"/>
            <a:ext cx="4688862" cy="408880"/>
          </a:xfrm>
          <a:prstGeom prst="rect">
            <a:avLst/>
          </a:prstGeom>
          <a:noFill/>
          <a:ln/>
        </p:spPr>
        <p:txBody>
          <a:bodyPr wrap="none" lIns="0" tIns="0" rIns="0" bIns="0" rtlCol="0" anchor="t"/>
          <a:lstStyle/>
          <a:p>
            <a:pPr algn="l" indent="0" marL="0">
              <a:lnSpc>
                <a:spcPct val="96000"/>
              </a:lnSpc>
              <a:buNone/>
            </a:pPr>
            <a:r>
              <a:rPr lang="en-US" sz="2800" b="1" dirty="0">
                <a:solidFill>
                  <a:srgbClr val="14284B"/>
                </a:solidFill>
                <a:latin typeface="Bitter Bold" pitchFamily="34" charset="0"/>
                <a:ea typeface="Bitter Bold" pitchFamily="34" charset="-122"/>
                <a:cs typeface="Bitter Bold" pitchFamily="34" charset="0"/>
              </a:rPr>
              <a:t>~50 years</a:t>
            </a:r>
            <a:endParaRPr lang="en-US" sz="2800" dirty="0"/>
          </a:p>
        </p:txBody>
      </p:sp>
      <p:sp>
        <p:nvSpPr>
          <p:cNvPr id="6" name="Text 4"/>
          <p:cNvSpPr/>
          <p:nvPr/>
        </p:nvSpPr>
        <p:spPr>
          <a:xfrm>
            <a:off x="7045645" y="1847175"/>
            <a:ext cx="4688862" cy="626070"/>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14284B"/>
                </a:solidFill>
                <a:latin typeface="Public Sans" pitchFamily="34" charset="0"/>
                <a:ea typeface="Public Sans" pitchFamily="34" charset="-122"/>
                <a:cs typeface="Public Sans" pitchFamily="34" charset="0"/>
              </a:rPr>
              <a:t>conjectured timeframe from 1950 to reach this benchmark</a:t>
            </a:r>
            <a:endParaRPr lang="en-US" sz="1700" dirty="0"/>
          </a:p>
        </p:txBody>
      </p:sp>
      <p:sp>
        <p:nvSpPr>
          <p:cNvPr id="7" name="Text 5"/>
          <p:cNvSpPr/>
          <p:nvPr/>
        </p:nvSpPr>
        <p:spPr>
          <a:xfrm>
            <a:off x="7045645" y="3201187"/>
            <a:ext cx="4688862" cy="408880"/>
          </a:xfrm>
          <a:prstGeom prst="rect">
            <a:avLst/>
          </a:prstGeom>
          <a:noFill/>
          <a:ln/>
        </p:spPr>
        <p:txBody>
          <a:bodyPr wrap="none" lIns="0" tIns="0" rIns="0" bIns="0" rtlCol="0" anchor="t"/>
          <a:lstStyle/>
          <a:p>
            <a:pPr algn="l" indent="0" marL="0">
              <a:lnSpc>
                <a:spcPct val="96000"/>
              </a:lnSpc>
              <a:buNone/>
            </a:pPr>
            <a:r>
              <a:rPr lang="en-US" sz="2800" b="1" dirty="0">
                <a:solidFill>
                  <a:srgbClr val="14284B"/>
                </a:solidFill>
                <a:latin typeface="Bitter Bold" pitchFamily="34" charset="0"/>
                <a:ea typeface="Bitter Bold" pitchFamily="34" charset="-122"/>
                <a:cs typeface="Bitter Bold" pitchFamily="34" charset="0"/>
              </a:rPr>
              <a:t>109 bits</a:t>
            </a:r>
            <a:endParaRPr lang="en-US" sz="2800" dirty="0"/>
          </a:p>
        </p:txBody>
      </p:sp>
      <p:sp>
        <p:nvSpPr>
          <p:cNvPr id="8" name="Text 6"/>
          <p:cNvSpPr/>
          <p:nvPr/>
        </p:nvSpPr>
        <p:spPr>
          <a:xfrm>
            <a:off x="7045645" y="3746222"/>
            <a:ext cx="4688862" cy="626070"/>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14284B"/>
                </a:solidFill>
                <a:latin typeface="Public Sans" pitchFamily="34" charset="0"/>
                <a:ea typeface="Public Sans" pitchFamily="34" charset="-122"/>
                <a:cs typeface="Public Sans" pitchFamily="34" charset="0"/>
              </a:rPr>
              <a:t>projected storage capacity required for the machine</a:t>
            </a:r>
            <a:endParaRPr lang="en-US" sz="1700" dirty="0"/>
          </a:p>
        </p:txBody>
      </p:sp>
      <p:sp>
        <p:nvSpPr>
          <p:cNvPr id="9" name="Text 7"/>
          <p:cNvSpPr/>
          <p:nvPr/>
        </p:nvSpPr>
        <p:spPr>
          <a:xfrm>
            <a:off x="7045645" y="5100333"/>
            <a:ext cx="4688862" cy="408880"/>
          </a:xfrm>
          <a:prstGeom prst="rect">
            <a:avLst/>
          </a:prstGeom>
          <a:noFill/>
          <a:ln/>
        </p:spPr>
        <p:txBody>
          <a:bodyPr wrap="none" lIns="0" tIns="0" rIns="0" bIns="0" rtlCol="0" anchor="t"/>
          <a:lstStyle/>
          <a:p>
            <a:pPr algn="l" indent="0" marL="0">
              <a:lnSpc>
                <a:spcPct val="96000"/>
              </a:lnSpc>
              <a:buNone/>
            </a:pPr>
            <a:r>
              <a:rPr lang="en-US" sz="2800" b="1" dirty="0">
                <a:solidFill>
                  <a:srgbClr val="14284B"/>
                </a:solidFill>
                <a:latin typeface="Bitter Bold" pitchFamily="34" charset="0"/>
                <a:ea typeface="Bitter Bold" pitchFamily="34" charset="-122"/>
                <a:cs typeface="Bitter Bold" pitchFamily="34" charset="0"/>
              </a:rPr>
              <a:t>Conjecture</a:t>
            </a:r>
            <a:endParaRPr lang="en-US" sz="2800" dirty="0"/>
          </a:p>
        </p:txBody>
      </p:sp>
      <p:sp>
        <p:nvSpPr>
          <p:cNvPr id="10" name="Text 8"/>
          <p:cNvSpPr/>
          <p:nvPr/>
        </p:nvSpPr>
        <p:spPr>
          <a:xfrm>
            <a:off x="7045645" y="5645368"/>
            <a:ext cx="4688862" cy="626070"/>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14284B"/>
                </a:solidFill>
                <a:latin typeface="Public Sans" pitchFamily="34" charset="0"/>
                <a:ea typeface="Public Sans" pitchFamily="34" charset="-122"/>
                <a:cs typeface="Public Sans" pitchFamily="34" charset="0"/>
              </a:rPr>
              <a:t>Section 6: a stated belief about future performance, not a mathematical certainty</a:t>
            </a:r>
            <a:endParaRPr lang="en-US" sz="1700" dirty="0"/>
          </a:p>
        </p:txBody>
      </p:sp>
      <p:sp>
        <p:nvSpPr>
          <p:cNvPr id="11" name="Shape 9"/>
          <p:cNvSpPr/>
          <p:nvPr/>
        </p:nvSpPr>
        <p:spPr>
          <a:xfrm>
            <a:off x="7045645" y="2824857"/>
            <a:ext cx="4688862" cy="12700"/>
          </a:xfrm>
          <a:prstGeom prst="rect">
            <a:avLst/>
          </a:prstGeom>
          <a:solidFill>
            <a:srgbClr val="14284B"/>
          </a:solidFill>
          <a:ln/>
        </p:spPr>
      </p:sp>
      <p:sp>
        <p:nvSpPr>
          <p:cNvPr id="12" name="Shape 10"/>
          <p:cNvSpPr/>
          <p:nvPr/>
        </p:nvSpPr>
        <p:spPr>
          <a:xfrm>
            <a:off x="7045645" y="4723904"/>
            <a:ext cx="4688862" cy="12700"/>
          </a:xfrm>
          <a:prstGeom prst="rect">
            <a:avLst/>
          </a:prstGeom>
          <a:solidFill>
            <a:srgbClr val="14284B"/>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189" y="491236"/>
            <a:ext cx="11277318" cy="506710"/>
          </a:xfrm>
          <a:prstGeom prst="rect">
            <a:avLst/>
          </a:prstGeom>
          <a:noFill/>
          <a:ln/>
        </p:spPr>
        <p:txBody>
          <a:bodyPr wrap="none" lIns="0" tIns="0" rIns="0" bIns="0" rtlCol="0" anchor="t"/>
          <a:lstStyle/>
          <a:p>
            <a:pPr algn="l" indent="0" marL="0">
              <a:lnSpc>
                <a:spcPct val="87000"/>
              </a:lnSpc>
              <a:buNone/>
            </a:pPr>
            <a:r>
              <a:rPr lang="en-US" sz="3800" spc="-38" kern="100" dirty="0">
                <a:solidFill>
                  <a:srgbClr val="14284B"/>
                </a:solidFill>
                <a:latin typeface="Bitter ExtraBold" pitchFamily="34" charset="0"/>
                <a:ea typeface="Bitter ExtraBold" pitchFamily="34" charset="-122"/>
                <a:cs typeface="Bitter ExtraBold" pitchFamily="34" charset="0"/>
              </a:rPr>
              <a:t>Mathematical limits do not settle the debate</a:t>
            </a:r>
            <a:endParaRPr lang="en-US" sz="3800" dirty="0"/>
          </a:p>
        </p:txBody>
      </p:sp>
      <p:sp>
        <p:nvSpPr>
          <p:cNvPr id="3" name="Text 1"/>
          <p:cNvSpPr/>
          <p:nvPr/>
        </p:nvSpPr>
        <p:spPr>
          <a:xfrm>
            <a:off x="457189" y="1167428"/>
            <a:ext cx="11734506" cy="240010"/>
          </a:xfrm>
          <a:prstGeom prst="rect">
            <a:avLst/>
          </a:prstGeom>
          <a:noFill/>
          <a:ln/>
        </p:spPr>
        <p:txBody>
          <a:bodyPr wrap="none" lIns="0" tIns="0" rIns="0" bIns="0" rtlCol="0" anchor="t"/>
          <a:lstStyle/>
          <a:p>
            <a:pPr algn="l" indent="0" marL="0">
              <a:lnSpc>
                <a:spcPct val="112000"/>
              </a:lnSpc>
              <a:buNone/>
            </a:pPr>
            <a:r>
              <a:rPr lang="en-US" sz="1400" dirty="0">
                <a:solidFill>
                  <a:srgbClr val="525E6B"/>
                </a:solidFill>
                <a:latin typeface="Public Sans" pitchFamily="34" charset="0"/>
                <a:ea typeface="Public Sans" pitchFamily="34" charset="-122"/>
                <a:cs typeface="Public Sans" pitchFamily="34" charset="0"/>
              </a:rPr>
              <a:t>Section 6(3) · The Mathematical Objection</a:t>
            </a:r>
            <a:endParaRPr lang="en-US" sz="1400" dirty="0"/>
          </a:p>
        </p:txBody>
      </p:sp>
      <p:sp>
        <p:nvSpPr>
          <p:cNvPr id="4" name="Shape 2"/>
          <p:cNvSpPr/>
          <p:nvPr/>
        </p:nvSpPr>
        <p:spPr>
          <a:xfrm>
            <a:off x="457189" y="1578570"/>
            <a:ext cx="5486263" cy="4822230"/>
          </a:xfrm>
          <a:prstGeom prst="rect">
            <a:avLst/>
          </a:prstGeom>
          <a:solidFill>
            <a:srgbClr val="FFFFFF"/>
          </a:solidFill>
          <a:ln/>
        </p:spPr>
      </p:sp>
      <p:sp>
        <p:nvSpPr>
          <p:cNvPr id="5" name="Shape 3"/>
          <p:cNvSpPr/>
          <p:nvPr/>
        </p:nvSpPr>
        <p:spPr>
          <a:xfrm>
            <a:off x="457189" y="1578570"/>
            <a:ext cx="5486263" cy="38100"/>
          </a:xfrm>
          <a:prstGeom prst="rect">
            <a:avLst/>
          </a:prstGeom>
          <a:solidFill>
            <a:srgbClr val="14284B"/>
          </a:solidFill>
          <a:ln/>
        </p:spPr>
      </p:sp>
      <p:sp>
        <p:nvSpPr>
          <p:cNvPr id="6" name="Text 4"/>
          <p:cNvSpPr/>
          <p:nvPr/>
        </p:nvSpPr>
        <p:spPr>
          <a:xfrm>
            <a:off x="685783" y="1851738"/>
            <a:ext cx="5029074" cy="321270"/>
          </a:xfrm>
          <a:prstGeom prst="rect">
            <a:avLst/>
          </a:prstGeom>
          <a:noFill/>
          <a:ln/>
        </p:spPr>
        <p:txBody>
          <a:bodyPr wrap="none" lIns="0" tIns="0" rIns="0" bIns="0" rtlCol="0" anchor="t"/>
          <a:lstStyle/>
          <a:p>
            <a:pPr algn="l" indent="0" marL="0">
              <a:lnSpc>
                <a:spcPct val="96000"/>
              </a:lnSpc>
              <a:buNone/>
            </a:pPr>
            <a:r>
              <a:rPr lang="en-US" sz="2200" b="1" dirty="0">
                <a:solidFill>
                  <a:srgbClr val="14284B"/>
                </a:solidFill>
                <a:latin typeface="Bitter Bold" pitchFamily="34" charset="0"/>
                <a:ea typeface="Bitter Bold" pitchFamily="34" charset="-122"/>
                <a:cs typeface="Bitter Bold" pitchFamily="34" charset="0"/>
              </a:rPr>
              <a:t>Provable machine limitations</a:t>
            </a:r>
            <a:endParaRPr lang="en-US" sz="2200" dirty="0"/>
          </a:p>
        </p:txBody>
      </p:sp>
      <p:sp>
        <p:nvSpPr>
          <p:cNvPr id="7" name="Text 5"/>
          <p:cNvSpPr/>
          <p:nvPr/>
        </p:nvSpPr>
        <p:spPr>
          <a:xfrm>
            <a:off x="685783" y="2312114"/>
            <a:ext cx="5029074" cy="939105"/>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14284B"/>
                </a:solidFill>
                <a:latin typeface="Public Sans" pitchFamily="34" charset="0"/>
                <a:ea typeface="Public Sans" pitchFamily="34" charset="-122"/>
                <a:cs typeface="Public Sans" pitchFamily="34" charset="0"/>
              </a:rPr>
              <a:t>Gödel's theorem and Turing's halting results show discrete-state systems cannot resolve every formal statement.</a:t>
            </a:r>
            <a:endParaRPr lang="en-US" sz="1700" dirty="0"/>
          </a:p>
        </p:txBody>
      </p:sp>
      <p:sp>
        <p:nvSpPr>
          <p:cNvPr id="8" name="Shape 6"/>
          <p:cNvSpPr/>
          <p:nvPr/>
        </p:nvSpPr>
        <p:spPr>
          <a:xfrm>
            <a:off x="685783" y="3362821"/>
            <a:ext cx="1799585" cy="328116"/>
          </a:xfrm>
          <a:prstGeom prst="rect">
            <a:avLst/>
          </a:prstGeom>
          <a:solidFill>
            <a:srgbClr val="FFE01B"/>
          </a:solidFill>
          <a:ln/>
        </p:spPr>
      </p:sp>
      <p:sp>
        <p:nvSpPr>
          <p:cNvPr id="9" name="Text 7"/>
          <p:cNvSpPr/>
          <p:nvPr/>
        </p:nvSpPr>
        <p:spPr>
          <a:xfrm>
            <a:off x="806628" y="3433342"/>
            <a:ext cx="2167479" cy="207268"/>
          </a:xfrm>
          <a:prstGeom prst="rect">
            <a:avLst/>
          </a:prstGeom>
          <a:noFill/>
          <a:ln/>
        </p:spPr>
        <p:txBody>
          <a:bodyPr wrap="none" lIns="0" tIns="0" rIns="0" bIns="0" rtlCol="0" anchor="t"/>
          <a:lstStyle/>
          <a:p>
            <a:pPr algn="l" indent="0" marL="0">
              <a:lnSpc>
                <a:spcPct val="100000"/>
              </a:lnSpc>
              <a:buNone/>
            </a:pPr>
            <a:r>
              <a:rPr lang="en-US" sz="1350" b="1" spc="14" kern="100" dirty="0">
                <a:solidFill>
                  <a:srgbClr val="000000"/>
                </a:solidFill>
                <a:latin typeface="Public Sans Bold" pitchFamily="34" charset="0"/>
                <a:ea typeface="Public Sans Bold" pitchFamily="34" charset="-122"/>
                <a:cs typeface="Public Sans Bold" pitchFamily="34" charset="0"/>
              </a:rPr>
              <a:t>Formal limits exist</a:t>
            </a:r>
            <a:endParaRPr lang="en-US" sz="1350" dirty="0"/>
          </a:p>
        </p:txBody>
      </p:sp>
      <p:sp>
        <p:nvSpPr>
          <p:cNvPr id="10" name="Shape 8"/>
          <p:cNvSpPr/>
          <p:nvPr/>
        </p:nvSpPr>
        <p:spPr>
          <a:xfrm>
            <a:off x="6248244" y="1578570"/>
            <a:ext cx="5486263" cy="4822230"/>
          </a:xfrm>
          <a:prstGeom prst="rect">
            <a:avLst/>
          </a:prstGeom>
          <a:solidFill>
            <a:srgbClr val="FFFFFF"/>
          </a:solidFill>
          <a:ln/>
        </p:spPr>
      </p:sp>
      <p:sp>
        <p:nvSpPr>
          <p:cNvPr id="11" name="Shape 9"/>
          <p:cNvSpPr/>
          <p:nvPr/>
        </p:nvSpPr>
        <p:spPr>
          <a:xfrm>
            <a:off x="6248244" y="1578570"/>
            <a:ext cx="5486263" cy="38100"/>
          </a:xfrm>
          <a:prstGeom prst="rect">
            <a:avLst/>
          </a:prstGeom>
          <a:solidFill>
            <a:srgbClr val="14284B"/>
          </a:solidFill>
          <a:ln/>
        </p:spPr>
      </p:sp>
      <p:sp>
        <p:nvSpPr>
          <p:cNvPr id="12" name="Text 10"/>
          <p:cNvSpPr/>
          <p:nvPr/>
        </p:nvSpPr>
        <p:spPr>
          <a:xfrm>
            <a:off x="6476838" y="1851738"/>
            <a:ext cx="5029074" cy="321270"/>
          </a:xfrm>
          <a:prstGeom prst="rect">
            <a:avLst/>
          </a:prstGeom>
          <a:noFill/>
          <a:ln/>
        </p:spPr>
        <p:txBody>
          <a:bodyPr wrap="none" lIns="0" tIns="0" rIns="0" bIns="0" rtlCol="0" anchor="t"/>
          <a:lstStyle/>
          <a:p>
            <a:pPr algn="l" indent="0" marL="0">
              <a:lnSpc>
                <a:spcPct val="96000"/>
              </a:lnSpc>
              <a:buNone/>
            </a:pPr>
            <a:r>
              <a:rPr lang="en-US" sz="2200" b="1" dirty="0">
                <a:solidFill>
                  <a:srgbClr val="14284B"/>
                </a:solidFill>
                <a:latin typeface="Bitter Bold" pitchFamily="34" charset="0"/>
                <a:ea typeface="Bitter Bold" pitchFamily="34" charset="-122"/>
                <a:cs typeface="Bitter Bold" pitchFamily="34" charset="0"/>
              </a:rPr>
              <a:t>Unproved human superiority</a:t>
            </a:r>
            <a:endParaRPr lang="en-US" sz="2200" dirty="0"/>
          </a:p>
        </p:txBody>
      </p:sp>
      <p:sp>
        <p:nvSpPr>
          <p:cNvPr id="13" name="Text 11"/>
          <p:cNvSpPr/>
          <p:nvPr/>
        </p:nvSpPr>
        <p:spPr>
          <a:xfrm>
            <a:off x="6476838" y="2312114"/>
            <a:ext cx="5029074" cy="939105"/>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14284B"/>
                </a:solidFill>
                <a:latin typeface="Public Sans" pitchFamily="34" charset="0"/>
                <a:ea typeface="Public Sans" pitchFamily="34" charset="-122"/>
                <a:cs typeface="Public Sans" pitchFamily="34" charset="0"/>
              </a:rPr>
              <a:t>Turing observes it has not been proved that human intellect is free from comparable internal limitations.</a:t>
            </a:r>
            <a:endParaRPr lang="en-US" sz="1700" dirty="0"/>
          </a:p>
        </p:txBody>
      </p:sp>
      <p:sp>
        <p:nvSpPr>
          <p:cNvPr id="14" name="Shape 12"/>
          <p:cNvSpPr/>
          <p:nvPr/>
        </p:nvSpPr>
        <p:spPr>
          <a:xfrm>
            <a:off x="6476838" y="3362821"/>
            <a:ext cx="2025798" cy="328116"/>
          </a:xfrm>
          <a:prstGeom prst="rect">
            <a:avLst/>
          </a:prstGeom>
          <a:solidFill>
            <a:srgbClr val="FFE01B"/>
          </a:solidFill>
          <a:ln/>
        </p:spPr>
      </p:sp>
      <p:sp>
        <p:nvSpPr>
          <p:cNvPr id="15" name="Text 13"/>
          <p:cNvSpPr/>
          <p:nvPr/>
        </p:nvSpPr>
        <p:spPr>
          <a:xfrm>
            <a:off x="6597683" y="3433342"/>
            <a:ext cx="2393692" cy="207268"/>
          </a:xfrm>
          <a:prstGeom prst="rect">
            <a:avLst/>
          </a:prstGeom>
          <a:noFill/>
          <a:ln/>
        </p:spPr>
        <p:txBody>
          <a:bodyPr wrap="none" lIns="0" tIns="0" rIns="0" bIns="0" rtlCol="0" anchor="t"/>
          <a:lstStyle/>
          <a:p>
            <a:pPr algn="l" indent="0" marL="0">
              <a:lnSpc>
                <a:spcPct val="100000"/>
              </a:lnSpc>
              <a:buNone/>
            </a:pPr>
            <a:r>
              <a:rPr lang="en-US" sz="1350" b="1" spc="14" kern="100" dirty="0">
                <a:solidFill>
                  <a:srgbClr val="000000"/>
                </a:solidFill>
                <a:latin typeface="Public Sans Bold" pitchFamily="34" charset="0"/>
                <a:ea typeface="Public Sans Bold" pitchFamily="34" charset="-122"/>
                <a:cs typeface="Public Sans Bold" pitchFamily="34" charset="0"/>
              </a:rPr>
              <a:t>Turing's counterpoint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189" y="491236"/>
            <a:ext cx="11277318" cy="506710"/>
          </a:xfrm>
          <a:prstGeom prst="rect">
            <a:avLst/>
          </a:prstGeom>
          <a:noFill/>
          <a:ln/>
        </p:spPr>
        <p:txBody>
          <a:bodyPr wrap="none" lIns="0" tIns="0" rIns="0" bIns="0" rtlCol="0" anchor="t"/>
          <a:lstStyle/>
          <a:p>
            <a:pPr algn="l" indent="0" marL="0">
              <a:lnSpc>
                <a:spcPct val="87000"/>
              </a:lnSpc>
              <a:buNone/>
            </a:pPr>
            <a:r>
              <a:rPr lang="en-US" sz="3800" spc="-38" kern="100" dirty="0">
                <a:solidFill>
                  <a:srgbClr val="14284B"/>
                </a:solidFill>
                <a:latin typeface="Bitter ExtraBold" pitchFamily="34" charset="0"/>
                <a:ea typeface="Bitter ExtraBold" pitchFamily="34" charset="-122"/>
                <a:cs typeface="Bitter ExtraBold" pitchFamily="34" charset="0"/>
              </a:rPr>
              <a:t>Consciousness remains an open mystery</a:t>
            </a:r>
            <a:endParaRPr lang="en-US" sz="3800" dirty="0"/>
          </a:p>
        </p:txBody>
      </p:sp>
      <p:sp>
        <p:nvSpPr>
          <p:cNvPr id="3" name="Text 1"/>
          <p:cNvSpPr/>
          <p:nvPr/>
        </p:nvSpPr>
        <p:spPr>
          <a:xfrm>
            <a:off x="781030" y="2720697"/>
            <a:ext cx="6528927" cy="1386780"/>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14284B"/>
                </a:solidFill>
                <a:latin typeface="Bitter Bold" pitchFamily="34" charset="0"/>
                <a:ea typeface="Bitter Bold" pitchFamily="34" charset="-122"/>
                <a:cs typeface="Bitter Bold" pitchFamily="34" charset="0"/>
              </a:rPr>
              <a:t>"The only way to know that a machine thinks is to be the machine and to feel oneself thinking."</a:t>
            </a:r>
            <a:endParaRPr lang="en-US" sz="2800" dirty="0"/>
          </a:p>
        </p:txBody>
      </p:sp>
      <p:sp>
        <p:nvSpPr>
          <p:cNvPr id="4" name="Shape 2"/>
          <p:cNvSpPr/>
          <p:nvPr/>
        </p:nvSpPr>
        <p:spPr>
          <a:xfrm>
            <a:off x="457189" y="2641005"/>
            <a:ext cx="38099" cy="1539180"/>
          </a:xfrm>
          <a:prstGeom prst="rect">
            <a:avLst/>
          </a:prstGeom>
          <a:solidFill>
            <a:srgbClr val="14284B"/>
          </a:solidFill>
          <a:ln/>
        </p:spPr>
      </p:sp>
      <p:sp>
        <p:nvSpPr>
          <p:cNvPr id="5" name="Text 3"/>
          <p:cNvSpPr/>
          <p:nvPr/>
        </p:nvSpPr>
        <p:spPr>
          <a:xfrm>
            <a:off x="457189" y="4297184"/>
            <a:ext cx="6852768" cy="626070"/>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14284B"/>
                </a:solidFill>
                <a:latin typeface="Public Sans" pitchFamily="34" charset="0"/>
                <a:ea typeface="Public Sans" pitchFamily="34" charset="-122"/>
                <a:cs typeface="Public Sans" pitchFamily="34" charset="0"/>
              </a:rPr>
              <a:t>Professor Jefferson's Lister Oration (1949), quoted by Turing in Section 6(4)</a:t>
            </a:r>
            <a:endParaRPr lang="en-US" sz="1700" dirty="0"/>
          </a:p>
        </p:txBody>
      </p:sp>
      <p:sp>
        <p:nvSpPr>
          <p:cNvPr id="6" name="Shape 4"/>
          <p:cNvSpPr/>
          <p:nvPr/>
        </p:nvSpPr>
        <p:spPr>
          <a:xfrm>
            <a:off x="7767046" y="2140744"/>
            <a:ext cx="3764265" cy="3280073"/>
          </a:xfrm>
          <a:prstGeom prst="rect">
            <a:avLst/>
          </a:prstGeom>
          <a:solidFill>
            <a:srgbClr val="FFFFFF"/>
          </a:solidFill>
          <a:ln/>
        </p:spPr>
      </p:sp>
      <p:sp>
        <p:nvSpPr>
          <p:cNvPr id="7" name="Shape 5"/>
          <p:cNvSpPr/>
          <p:nvPr/>
        </p:nvSpPr>
        <p:spPr>
          <a:xfrm>
            <a:off x="7767046" y="2140744"/>
            <a:ext cx="3764265" cy="38100"/>
          </a:xfrm>
          <a:prstGeom prst="rect">
            <a:avLst/>
          </a:prstGeom>
          <a:solidFill>
            <a:srgbClr val="14284B"/>
          </a:solidFill>
          <a:ln/>
        </p:spPr>
      </p:sp>
      <p:sp>
        <p:nvSpPr>
          <p:cNvPr id="8" name="Text 6"/>
          <p:cNvSpPr/>
          <p:nvPr/>
        </p:nvSpPr>
        <p:spPr>
          <a:xfrm>
            <a:off x="7995641" y="2413912"/>
            <a:ext cx="3307077" cy="321270"/>
          </a:xfrm>
          <a:prstGeom prst="rect">
            <a:avLst/>
          </a:prstGeom>
          <a:noFill/>
          <a:ln/>
        </p:spPr>
        <p:txBody>
          <a:bodyPr wrap="none" lIns="0" tIns="0" rIns="0" bIns="0" rtlCol="0" anchor="t"/>
          <a:lstStyle/>
          <a:p>
            <a:pPr algn="l" indent="0" marL="0">
              <a:lnSpc>
                <a:spcPct val="96000"/>
              </a:lnSpc>
              <a:buNone/>
            </a:pPr>
            <a:r>
              <a:rPr lang="en-US" sz="2200" b="1" dirty="0">
                <a:solidFill>
                  <a:srgbClr val="14284B"/>
                </a:solidFill>
                <a:latin typeface="Bitter Bold" pitchFamily="34" charset="0"/>
                <a:ea typeface="Bitter Bold" pitchFamily="34" charset="-122"/>
                <a:cs typeface="Bitter Bold" pitchFamily="34" charset="0"/>
              </a:rPr>
              <a:t>Solipsist impasse</a:t>
            </a:r>
            <a:endParaRPr lang="en-US" sz="2200" dirty="0"/>
          </a:p>
        </p:txBody>
      </p:sp>
      <p:sp>
        <p:nvSpPr>
          <p:cNvPr id="9" name="Text 7"/>
          <p:cNvSpPr/>
          <p:nvPr/>
        </p:nvSpPr>
        <p:spPr>
          <a:xfrm>
            <a:off x="7995641" y="2874288"/>
            <a:ext cx="3307077" cy="1878211"/>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14284B"/>
                </a:solidFill>
                <a:latin typeface="Public Sans" pitchFamily="34" charset="0"/>
                <a:ea typeface="Public Sans" pitchFamily="34" charset="-122"/>
                <a:cs typeface="Public Sans" pitchFamily="34" charset="0"/>
              </a:rPr>
              <a:t>Turing notes demanding subjective experience leads to solipsism: we credit other humans with thought by communication, not direct introspection.</a:t>
            </a:r>
            <a:endParaRPr lang="en-US" sz="1700" dirty="0"/>
          </a:p>
        </p:txBody>
      </p:sp>
      <p:sp>
        <p:nvSpPr>
          <p:cNvPr id="10" name="Shape 8"/>
          <p:cNvSpPr/>
          <p:nvPr/>
        </p:nvSpPr>
        <p:spPr>
          <a:xfrm>
            <a:off x="7995641" y="4864100"/>
            <a:ext cx="1273639" cy="328116"/>
          </a:xfrm>
          <a:prstGeom prst="rect">
            <a:avLst/>
          </a:prstGeom>
          <a:solidFill>
            <a:srgbClr val="FFE01B"/>
          </a:solidFill>
          <a:ln/>
        </p:spPr>
      </p:sp>
      <p:sp>
        <p:nvSpPr>
          <p:cNvPr id="11" name="Text 9"/>
          <p:cNvSpPr/>
          <p:nvPr/>
        </p:nvSpPr>
        <p:spPr>
          <a:xfrm>
            <a:off x="8116486" y="4934621"/>
            <a:ext cx="1641533" cy="207268"/>
          </a:xfrm>
          <a:prstGeom prst="rect">
            <a:avLst/>
          </a:prstGeom>
          <a:noFill/>
          <a:ln/>
        </p:spPr>
        <p:txBody>
          <a:bodyPr wrap="none" lIns="0" tIns="0" rIns="0" bIns="0" rtlCol="0" anchor="t"/>
          <a:lstStyle/>
          <a:p>
            <a:pPr algn="l" indent="0" marL="0">
              <a:lnSpc>
                <a:spcPct val="100000"/>
              </a:lnSpc>
              <a:buNone/>
            </a:pPr>
            <a:r>
              <a:rPr lang="en-US" sz="1350" b="1" spc="14" kern="100" dirty="0">
                <a:solidFill>
                  <a:srgbClr val="000000"/>
                </a:solidFill>
                <a:latin typeface="Public Sans Bold" pitchFamily="34" charset="0"/>
                <a:ea typeface="Public Sans Bold" pitchFamily="34" charset="-122"/>
                <a:cs typeface="Public Sans Bold" pitchFamily="34" charset="0"/>
              </a:rPr>
              <a:t>Section 6(4)</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189" y="491236"/>
            <a:ext cx="6197445" cy="1013420"/>
          </a:xfrm>
          <a:prstGeom prst="rect">
            <a:avLst/>
          </a:prstGeom>
          <a:noFill/>
          <a:ln/>
        </p:spPr>
        <p:txBody>
          <a:bodyPr wrap="square" lIns="0" tIns="0" rIns="0" bIns="0" rtlCol="0" anchor="t">
            <a:normAutofit/>
          </a:bodyPr>
          <a:lstStyle/>
          <a:p>
            <a:pPr algn="l" indent="0" marL="0">
              <a:lnSpc>
                <a:spcPct val="87000"/>
              </a:lnSpc>
              <a:buNone/>
            </a:pPr>
            <a:r>
              <a:rPr lang="en-US" sz="3800" spc="-38" kern="100" dirty="0">
                <a:solidFill>
                  <a:srgbClr val="14284B"/>
                </a:solidFill>
                <a:latin typeface="Bitter ExtraBold" pitchFamily="34" charset="0"/>
                <a:ea typeface="Bitter ExtraBold" pitchFamily="34" charset="-122"/>
                <a:cs typeface="Bitter ExtraBold" pitchFamily="34" charset="0"/>
              </a:rPr>
              <a:t>Machines may surprise their makers</a:t>
            </a:r>
            <a:endParaRPr lang="en-US" sz="3800" dirty="0"/>
          </a:p>
        </p:txBody>
      </p:sp>
      <p:sp>
        <p:nvSpPr>
          <p:cNvPr id="3" name="Shape 1"/>
          <p:cNvSpPr/>
          <p:nvPr/>
        </p:nvSpPr>
        <p:spPr>
          <a:xfrm>
            <a:off x="457189" y="1667470"/>
            <a:ext cx="6197445" cy="4733330"/>
          </a:xfrm>
          <a:prstGeom prst="rect">
            <a:avLst/>
          </a:prstGeom>
          <a:solidFill>
            <a:srgbClr val="FFFFFF"/>
          </a:solidFill>
          <a:ln/>
        </p:spPr>
      </p:sp>
      <p:sp>
        <p:nvSpPr>
          <p:cNvPr id="4" name="Shape 2"/>
          <p:cNvSpPr/>
          <p:nvPr/>
        </p:nvSpPr>
        <p:spPr>
          <a:xfrm>
            <a:off x="457189" y="1667470"/>
            <a:ext cx="6197445" cy="38100"/>
          </a:xfrm>
          <a:prstGeom prst="rect">
            <a:avLst/>
          </a:prstGeom>
          <a:solidFill>
            <a:srgbClr val="14284B"/>
          </a:solidFill>
          <a:ln/>
        </p:spPr>
      </p:sp>
      <p:sp>
        <p:nvSpPr>
          <p:cNvPr id="5" name="Text 3"/>
          <p:cNvSpPr/>
          <p:nvPr/>
        </p:nvSpPr>
        <p:spPr>
          <a:xfrm>
            <a:off x="685783" y="1940638"/>
            <a:ext cx="5740256" cy="321270"/>
          </a:xfrm>
          <a:prstGeom prst="rect">
            <a:avLst/>
          </a:prstGeom>
          <a:noFill/>
          <a:ln/>
        </p:spPr>
        <p:txBody>
          <a:bodyPr wrap="none" lIns="0" tIns="0" rIns="0" bIns="0" rtlCol="0" anchor="t"/>
          <a:lstStyle/>
          <a:p>
            <a:pPr algn="l" indent="0" marL="0">
              <a:lnSpc>
                <a:spcPct val="96000"/>
              </a:lnSpc>
              <a:buNone/>
            </a:pPr>
            <a:r>
              <a:rPr lang="en-US" sz="2200" b="1" dirty="0">
                <a:solidFill>
                  <a:srgbClr val="14284B"/>
                </a:solidFill>
                <a:latin typeface="Bitter Bold" pitchFamily="34" charset="0"/>
                <a:ea typeface="Bitter Bold" pitchFamily="34" charset="-122"/>
                <a:cs typeface="Bitter Bold" pitchFamily="34" charset="0"/>
              </a:rPr>
              <a:t>Section 6(6) · Lady Lovelace’s objection</a:t>
            </a:r>
            <a:endParaRPr lang="en-US" sz="2200" dirty="0"/>
          </a:p>
        </p:txBody>
      </p:sp>
      <p:sp>
        <p:nvSpPr>
          <p:cNvPr id="6" name="Text 4"/>
          <p:cNvSpPr/>
          <p:nvPr/>
        </p:nvSpPr>
        <p:spPr>
          <a:xfrm>
            <a:off x="685783" y="2398316"/>
            <a:ext cx="5740256" cy="1992511"/>
          </a:xfrm>
          <a:prstGeom prst="rect">
            <a:avLst/>
          </a:prstGeom>
          <a:noFill/>
          <a:ln/>
        </p:spPr>
        <p:txBody>
          <a:bodyPr wrap="square" lIns="0" tIns="0" rIns="0" bIns="0" rtlCol="0" anchor="t">
            <a:normAutofit/>
          </a:bodyPr>
          <a:lstStyle/>
          <a:p>
            <a:pPr algn="l" indent="0" marL="0">
              <a:lnSpc>
                <a:spcPct val="121000"/>
              </a:lnSpc>
              <a:spcAft>
                <a:spcPts val="850"/>
              </a:spcAft>
              <a:buNone/>
            </a:pPr>
            <a:r>
              <a:rPr lang="en-US" sz="1700" dirty="0">
                <a:solidFill>
                  <a:srgbClr val="14284B"/>
                </a:solidFill>
                <a:latin typeface="Public Sans" pitchFamily="34" charset="0"/>
                <a:ea typeface="Public Sans" pitchFamily="34" charset="-122"/>
                <a:cs typeface="Public Sans" pitchFamily="34" charset="0"/>
              </a:rPr>
              <a:t>Lady Lovelace claimed the Analytical Engine had no pretensions to originate anything, executing only programmed commands.</a:t>
            </a:r>
            <a:endParaRPr lang="en-US" sz="1700" dirty="0"/>
          </a:p>
          <a:p>
            <a:pPr algn="l" indent="0" marL="0">
              <a:lnSpc>
                <a:spcPct val="121000"/>
              </a:lnSpc>
              <a:buNone/>
            </a:pPr>
            <a:r>
              <a:rPr lang="en-US" sz="1700" dirty="0">
                <a:solidFill>
                  <a:srgbClr val="14284B"/>
                </a:solidFill>
                <a:latin typeface="Public Sans" pitchFamily="34" charset="0"/>
                <a:ea typeface="Public Sans" pitchFamily="34" charset="-122"/>
                <a:cs typeface="Public Sans" pitchFamily="34" charset="0"/>
              </a:rPr>
              <a:t>Turing replies that machines continually surprise their operators by yielding consequences not consciously foreseen.</a:t>
            </a:r>
            <a:endParaRPr lang="en-US" sz="1700" dirty="0"/>
          </a:p>
        </p:txBody>
      </p:sp>
      <p:sp>
        <p:nvSpPr>
          <p:cNvPr id="7" name="Shape 5"/>
          <p:cNvSpPr/>
          <p:nvPr/>
        </p:nvSpPr>
        <p:spPr>
          <a:xfrm>
            <a:off x="685783" y="5844084"/>
            <a:ext cx="2011709" cy="328116"/>
          </a:xfrm>
          <a:prstGeom prst="rect">
            <a:avLst/>
          </a:prstGeom>
          <a:solidFill>
            <a:srgbClr val="FFE01B"/>
          </a:solidFill>
          <a:ln/>
        </p:spPr>
      </p:sp>
      <p:sp>
        <p:nvSpPr>
          <p:cNvPr id="8" name="Text 6"/>
          <p:cNvSpPr/>
          <p:nvPr/>
        </p:nvSpPr>
        <p:spPr>
          <a:xfrm>
            <a:off x="806628" y="5914604"/>
            <a:ext cx="2379603" cy="207268"/>
          </a:xfrm>
          <a:prstGeom prst="rect">
            <a:avLst/>
          </a:prstGeom>
          <a:noFill/>
          <a:ln/>
        </p:spPr>
        <p:txBody>
          <a:bodyPr wrap="none" lIns="0" tIns="0" rIns="0" bIns="0" rtlCol="0" anchor="t"/>
          <a:lstStyle/>
          <a:p>
            <a:pPr algn="l" indent="0" marL="0">
              <a:lnSpc>
                <a:spcPct val="100000"/>
              </a:lnSpc>
              <a:buNone/>
            </a:pPr>
            <a:r>
              <a:rPr lang="en-US" sz="1350" b="1" spc="14" kern="100" dirty="0">
                <a:solidFill>
                  <a:srgbClr val="000000"/>
                </a:solidFill>
                <a:latin typeface="Public Sans Bold" pitchFamily="34" charset="0"/>
                <a:ea typeface="Public Sans Bold" pitchFamily="34" charset="-122"/>
                <a:cs typeface="Public Sans Bold" pitchFamily="34" charset="0"/>
              </a:rPr>
              <a:t>Unexpected behavior</a:t>
            </a:r>
            <a:endParaRPr lang="en-US" sz="1350" dirty="0"/>
          </a:p>
        </p:txBody>
      </p:sp>
      <p:pic>
        <p:nvPicPr>
          <p:cNvPr id="9" name="Image 0" descr="preencoded.png">    </p:cNvPr>
          <p:cNvPicPr>
            <a:picLocks noChangeAspect="1"/>
          </p:cNvPicPr>
          <p:nvPr/>
        </p:nvPicPr>
        <p:blipFill>
          <a:blip r:embed="rId1"/>
          <a:stretch>
            <a:fillRect/>
          </a:stretch>
        </p:blipFill>
        <p:spPr>
          <a:xfrm>
            <a:off x="7569011" y="651966"/>
            <a:ext cx="4165496" cy="55540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189" y="491236"/>
            <a:ext cx="11277318" cy="1013420"/>
          </a:xfrm>
          <a:prstGeom prst="rect">
            <a:avLst/>
          </a:prstGeom>
          <a:noFill/>
          <a:ln/>
        </p:spPr>
        <p:txBody>
          <a:bodyPr wrap="square" lIns="0" tIns="0" rIns="0" bIns="0" rtlCol="0" anchor="t">
            <a:normAutofit/>
          </a:bodyPr>
          <a:lstStyle/>
          <a:p>
            <a:pPr algn="l" indent="0" marL="0">
              <a:lnSpc>
                <a:spcPct val="87000"/>
              </a:lnSpc>
              <a:buNone/>
            </a:pPr>
            <a:r>
              <a:rPr lang="en-US" sz="3800" spc="-38" kern="100" dirty="0">
                <a:solidFill>
                  <a:srgbClr val="14284B"/>
                </a:solidFill>
                <a:latin typeface="Bitter ExtraBold" pitchFamily="34" charset="0"/>
                <a:ea typeface="Bitter ExtraBold" pitchFamily="34" charset="-122"/>
                <a:cs typeface="Bitter ExtraBold" pitchFamily="34" charset="0"/>
              </a:rPr>
              <a:t>Teach a child machine rather than program an adult</a:t>
            </a:r>
            <a:endParaRPr lang="en-US" sz="3800" dirty="0"/>
          </a:p>
        </p:txBody>
      </p:sp>
      <p:sp>
        <p:nvSpPr>
          <p:cNvPr id="3" name="Text 1"/>
          <p:cNvSpPr/>
          <p:nvPr/>
        </p:nvSpPr>
        <p:spPr>
          <a:xfrm>
            <a:off x="457189" y="1674138"/>
            <a:ext cx="11734506" cy="240010"/>
          </a:xfrm>
          <a:prstGeom prst="rect">
            <a:avLst/>
          </a:prstGeom>
          <a:noFill/>
          <a:ln/>
        </p:spPr>
        <p:txBody>
          <a:bodyPr wrap="none" lIns="0" tIns="0" rIns="0" bIns="0" rtlCol="0" anchor="t"/>
          <a:lstStyle/>
          <a:p>
            <a:pPr algn="l" indent="0" marL="0">
              <a:lnSpc>
                <a:spcPct val="112000"/>
              </a:lnSpc>
              <a:buNone/>
            </a:pPr>
            <a:r>
              <a:rPr lang="en-US" sz="1400" dirty="0">
                <a:solidFill>
                  <a:srgbClr val="525E6B"/>
                </a:solidFill>
                <a:latin typeface="Public Sans" pitchFamily="34" charset="0"/>
                <a:ea typeface="Public Sans" pitchFamily="34" charset="-122"/>
                <a:cs typeface="Public Sans" pitchFamily="34" charset="0"/>
              </a:rPr>
              <a:t>Section 7 · Learning machines and developmental architecture</a:t>
            </a:r>
            <a:endParaRPr lang="en-US" sz="1400" dirty="0"/>
          </a:p>
        </p:txBody>
      </p:sp>
      <p:sp>
        <p:nvSpPr>
          <p:cNvPr id="4" name="Shape 2"/>
          <p:cNvSpPr/>
          <p:nvPr/>
        </p:nvSpPr>
        <p:spPr>
          <a:xfrm>
            <a:off x="457189" y="2085280"/>
            <a:ext cx="3759106" cy="4315520"/>
          </a:xfrm>
          <a:prstGeom prst="rect">
            <a:avLst/>
          </a:prstGeom>
          <a:solidFill>
            <a:srgbClr val="FFFFFF"/>
          </a:solidFill>
          <a:ln/>
        </p:spPr>
      </p:sp>
      <p:sp>
        <p:nvSpPr>
          <p:cNvPr id="5" name="Text 3"/>
          <p:cNvSpPr/>
          <p:nvPr/>
        </p:nvSpPr>
        <p:spPr>
          <a:xfrm>
            <a:off x="685783" y="2320826"/>
            <a:ext cx="733704" cy="279400"/>
          </a:xfrm>
          <a:prstGeom prst="rect">
            <a:avLst/>
          </a:prstGeom>
          <a:noFill/>
          <a:ln/>
        </p:spPr>
        <p:txBody>
          <a:bodyPr wrap="none" lIns="0" tIns="0" rIns="0" bIns="0" rtlCol="0" anchor="t"/>
          <a:lstStyle/>
          <a:p>
            <a:pPr algn="l" indent="0" marL="0">
              <a:lnSpc>
                <a:spcPct val="83000"/>
              </a:lnSpc>
              <a:buNone/>
            </a:pPr>
            <a:r>
              <a:rPr lang="en-US" sz="2200" dirty="0">
                <a:solidFill>
                  <a:srgbClr val="14284B"/>
                </a:solidFill>
                <a:latin typeface="Bitter ExtraBold" pitchFamily="34" charset="0"/>
                <a:ea typeface="Bitter ExtraBold" pitchFamily="34" charset="-122"/>
                <a:cs typeface="Bitter ExtraBold" pitchFamily="34" charset="0"/>
              </a:rPr>
              <a:t>1</a:t>
            </a:r>
            <a:endParaRPr lang="en-US" sz="2200" dirty="0"/>
          </a:p>
        </p:txBody>
      </p:sp>
      <p:sp>
        <p:nvSpPr>
          <p:cNvPr id="6" name="Text 4"/>
          <p:cNvSpPr/>
          <p:nvPr/>
        </p:nvSpPr>
        <p:spPr>
          <a:xfrm>
            <a:off x="962299" y="2320348"/>
            <a:ext cx="3025402" cy="321270"/>
          </a:xfrm>
          <a:prstGeom prst="rect">
            <a:avLst/>
          </a:prstGeom>
          <a:noFill/>
          <a:ln/>
        </p:spPr>
        <p:txBody>
          <a:bodyPr wrap="none" lIns="0" tIns="0" rIns="0" bIns="0" rtlCol="0" anchor="t"/>
          <a:lstStyle/>
          <a:p>
            <a:pPr algn="l" indent="0" marL="0">
              <a:lnSpc>
                <a:spcPct val="96000"/>
              </a:lnSpc>
              <a:buNone/>
            </a:pPr>
            <a:r>
              <a:rPr lang="en-US" sz="2200" b="1" dirty="0">
                <a:solidFill>
                  <a:srgbClr val="14284B"/>
                </a:solidFill>
                <a:latin typeface="Bitter Bold" pitchFamily="34" charset="0"/>
                <a:ea typeface="Bitter Bold" pitchFamily="34" charset="-122"/>
                <a:cs typeface="Bitter Bold" pitchFamily="34" charset="0"/>
              </a:rPr>
              <a:t>Child programme</a:t>
            </a:r>
            <a:endParaRPr lang="en-US" sz="2200" dirty="0"/>
          </a:p>
        </p:txBody>
      </p:sp>
      <p:sp>
        <p:nvSpPr>
          <p:cNvPr id="7" name="Text 5"/>
          <p:cNvSpPr/>
          <p:nvPr/>
        </p:nvSpPr>
        <p:spPr>
          <a:xfrm>
            <a:off x="962299" y="2780724"/>
            <a:ext cx="3025402" cy="1252141"/>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14284B"/>
                </a:solidFill>
                <a:latin typeface="Public Sans" pitchFamily="34" charset="0"/>
                <a:ea typeface="Public Sans" pitchFamily="34" charset="-122"/>
                <a:cs typeface="Public Sans" pitchFamily="34" charset="0"/>
              </a:rPr>
              <a:t>Construct a simple initial mechanism with minimal fixed knowledge and high plasticity.</a:t>
            </a:r>
            <a:endParaRPr lang="en-US" sz="1700" dirty="0"/>
          </a:p>
        </p:txBody>
      </p:sp>
      <p:sp>
        <p:nvSpPr>
          <p:cNvPr id="8" name="Shape 6"/>
          <p:cNvSpPr/>
          <p:nvPr/>
        </p:nvSpPr>
        <p:spPr>
          <a:xfrm>
            <a:off x="4216295" y="2085280"/>
            <a:ext cx="3759106" cy="4315520"/>
          </a:xfrm>
          <a:prstGeom prst="rect">
            <a:avLst/>
          </a:prstGeom>
          <a:solidFill>
            <a:srgbClr val="FFFFFF"/>
          </a:solidFill>
          <a:ln/>
        </p:spPr>
      </p:sp>
      <p:sp>
        <p:nvSpPr>
          <p:cNvPr id="9" name="Text 7"/>
          <p:cNvSpPr/>
          <p:nvPr/>
        </p:nvSpPr>
        <p:spPr>
          <a:xfrm>
            <a:off x="4444889" y="2320826"/>
            <a:ext cx="769422" cy="279400"/>
          </a:xfrm>
          <a:prstGeom prst="rect">
            <a:avLst/>
          </a:prstGeom>
          <a:noFill/>
          <a:ln/>
        </p:spPr>
        <p:txBody>
          <a:bodyPr wrap="none" lIns="0" tIns="0" rIns="0" bIns="0" rtlCol="0" anchor="t"/>
          <a:lstStyle/>
          <a:p>
            <a:pPr algn="l" indent="0" marL="0">
              <a:lnSpc>
                <a:spcPct val="83000"/>
              </a:lnSpc>
              <a:buNone/>
            </a:pPr>
            <a:r>
              <a:rPr lang="en-US" sz="2200" dirty="0">
                <a:solidFill>
                  <a:srgbClr val="14284B"/>
                </a:solidFill>
                <a:latin typeface="Bitter ExtraBold" pitchFamily="34" charset="0"/>
                <a:ea typeface="Bitter ExtraBold" pitchFamily="34" charset="-122"/>
                <a:cs typeface="Bitter ExtraBold" pitchFamily="34" charset="0"/>
              </a:rPr>
              <a:t>2</a:t>
            </a:r>
            <a:endParaRPr lang="en-US" sz="2200" dirty="0"/>
          </a:p>
        </p:txBody>
      </p:sp>
      <p:sp>
        <p:nvSpPr>
          <p:cNvPr id="10" name="Text 8"/>
          <p:cNvSpPr/>
          <p:nvPr/>
        </p:nvSpPr>
        <p:spPr>
          <a:xfrm>
            <a:off x="4757122" y="2320348"/>
            <a:ext cx="2989684" cy="321270"/>
          </a:xfrm>
          <a:prstGeom prst="rect">
            <a:avLst/>
          </a:prstGeom>
          <a:noFill/>
          <a:ln/>
        </p:spPr>
        <p:txBody>
          <a:bodyPr wrap="none" lIns="0" tIns="0" rIns="0" bIns="0" rtlCol="0" anchor="t"/>
          <a:lstStyle/>
          <a:p>
            <a:pPr algn="l" indent="0" marL="0">
              <a:lnSpc>
                <a:spcPct val="96000"/>
              </a:lnSpc>
              <a:buNone/>
            </a:pPr>
            <a:r>
              <a:rPr lang="en-US" sz="2200" b="1" dirty="0">
                <a:solidFill>
                  <a:srgbClr val="14284B"/>
                </a:solidFill>
                <a:latin typeface="Bitter Bold" pitchFamily="34" charset="0"/>
                <a:ea typeface="Bitter Bold" pitchFamily="34" charset="-122"/>
                <a:cs typeface="Bitter Bold" pitchFamily="34" charset="0"/>
              </a:rPr>
              <a:t>Education and trial</a:t>
            </a:r>
            <a:endParaRPr lang="en-US" sz="2200" dirty="0"/>
          </a:p>
        </p:txBody>
      </p:sp>
      <p:sp>
        <p:nvSpPr>
          <p:cNvPr id="11" name="Text 9"/>
          <p:cNvSpPr/>
          <p:nvPr/>
        </p:nvSpPr>
        <p:spPr>
          <a:xfrm>
            <a:off x="4757122" y="2780724"/>
            <a:ext cx="2989684" cy="1252141"/>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14284B"/>
                </a:solidFill>
                <a:latin typeface="Public Sans" pitchFamily="34" charset="0"/>
                <a:ea typeface="Public Sans" pitchFamily="34" charset="-122"/>
                <a:cs typeface="Public Sans" pitchFamily="34" charset="0"/>
              </a:rPr>
              <a:t>Subject the machine to experience, rewards, punishments, and systematic feedback.</a:t>
            </a:r>
            <a:endParaRPr lang="en-US" sz="1700" dirty="0"/>
          </a:p>
        </p:txBody>
      </p:sp>
      <p:sp>
        <p:nvSpPr>
          <p:cNvPr id="12" name="Shape 10"/>
          <p:cNvSpPr/>
          <p:nvPr/>
        </p:nvSpPr>
        <p:spPr>
          <a:xfrm>
            <a:off x="7975400" y="2085280"/>
            <a:ext cx="3759106" cy="4315520"/>
          </a:xfrm>
          <a:prstGeom prst="rect">
            <a:avLst/>
          </a:prstGeom>
          <a:solidFill>
            <a:srgbClr val="FFFFFF"/>
          </a:solidFill>
          <a:ln/>
        </p:spPr>
      </p:sp>
      <p:sp>
        <p:nvSpPr>
          <p:cNvPr id="13" name="Text 11"/>
          <p:cNvSpPr/>
          <p:nvPr/>
        </p:nvSpPr>
        <p:spPr>
          <a:xfrm>
            <a:off x="8203995" y="2320826"/>
            <a:ext cx="771406" cy="279400"/>
          </a:xfrm>
          <a:prstGeom prst="rect">
            <a:avLst/>
          </a:prstGeom>
          <a:noFill/>
          <a:ln/>
        </p:spPr>
        <p:txBody>
          <a:bodyPr wrap="none" lIns="0" tIns="0" rIns="0" bIns="0" rtlCol="0" anchor="t"/>
          <a:lstStyle/>
          <a:p>
            <a:pPr algn="l" indent="0" marL="0">
              <a:lnSpc>
                <a:spcPct val="83000"/>
              </a:lnSpc>
              <a:buNone/>
            </a:pPr>
            <a:r>
              <a:rPr lang="en-US" sz="2200" dirty="0">
                <a:solidFill>
                  <a:srgbClr val="14284B"/>
                </a:solidFill>
                <a:latin typeface="Bitter ExtraBold" pitchFamily="34" charset="0"/>
                <a:ea typeface="Bitter ExtraBold" pitchFamily="34" charset="-122"/>
                <a:cs typeface="Bitter ExtraBold" pitchFamily="34" charset="0"/>
              </a:rPr>
              <a:t>3</a:t>
            </a:r>
            <a:endParaRPr lang="en-US" sz="2200" dirty="0"/>
          </a:p>
        </p:txBody>
      </p:sp>
      <p:sp>
        <p:nvSpPr>
          <p:cNvPr id="14" name="Text 12"/>
          <p:cNvSpPr/>
          <p:nvPr/>
        </p:nvSpPr>
        <p:spPr>
          <a:xfrm>
            <a:off x="8518213" y="2320348"/>
            <a:ext cx="2987699" cy="321270"/>
          </a:xfrm>
          <a:prstGeom prst="rect">
            <a:avLst/>
          </a:prstGeom>
          <a:noFill/>
          <a:ln/>
        </p:spPr>
        <p:txBody>
          <a:bodyPr wrap="none" lIns="0" tIns="0" rIns="0" bIns="0" rtlCol="0" anchor="t"/>
          <a:lstStyle/>
          <a:p>
            <a:pPr algn="l" indent="0" marL="0">
              <a:lnSpc>
                <a:spcPct val="96000"/>
              </a:lnSpc>
              <a:buNone/>
            </a:pPr>
            <a:r>
              <a:rPr lang="en-US" sz="2200" b="1" dirty="0">
                <a:solidFill>
                  <a:srgbClr val="14284B"/>
                </a:solidFill>
                <a:latin typeface="Bitter Bold" pitchFamily="34" charset="0"/>
                <a:ea typeface="Bitter Bold" pitchFamily="34" charset="-122"/>
                <a:cs typeface="Bitter Bold" pitchFamily="34" charset="0"/>
              </a:rPr>
              <a:t>Altered rules</a:t>
            </a:r>
            <a:endParaRPr lang="en-US" sz="2200" dirty="0"/>
          </a:p>
        </p:txBody>
      </p:sp>
      <p:sp>
        <p:nvSpPr>
          <p:cNvPr id="15" name="Text 13"/>
          <p:cNvSpPr/>
          <p:nvPr/>
        </p:nvSpPr>
        <p:spPr>
          <a:xfrm>
            <a:off x="8518213" y="2780724"/>
            <a:ext cx="2987699" cy="1252141"/>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14284B"/>
                </a:solidFill>
                <a:latin typeface="Public Sans" pitchFamily="34" charset="0"/>
                <a:ea typeface="Public Sans" pitchFamily="34" charset="-122"/>
                <a:cs typeface="Public Sans" pitchFamily="34" charset="0"/>
              </a:rPr>
              <a:t>Learned rules change internal behavior while underlying machine constitution remains fixed.</a:t>
            </a:r>
            <a:endParaRPr lang="en-US" sz="1700" dirty="0"/>
          </a:p>
        </p:txBody>
      </p:sp>
      <p:sp>
        <p:nvSpPr>
          <p:cNvPr id="16" name="Shape 14"/>
          <p:cNvSpPr/>
          <p:nvPr/>
        </p:nvSpPr>
        <p:spPr>
          <a:xfrm>
            <a:off x="8518213" y="4144466"/>
            <a:ext cx="2033834" cy="328116"/>
          </a:xfrm>
          <a:prstGeom prst="rect">
            <a:avLst/>
          </a:prstGeom>
          <a:solidFill>
            <a:srgbClr val="FFE01B"/>
          </a:solidFill>
          <a:ln/>
        </p:spPr>
      </p:sp>
      <p:sp>
        <p:nvSpPr>
          <p:cNvPr id="17" name="Text 15"/>
          <p:cNvSpPr/>
          <p:nvPr/>
        </p:nvSpPr>
        <p:spPr>
          <a:xfrm>
            <a:off x="8639058" y="4214987"/>
            <a:ext cx="2401728" cy="207268"/>
          </a:xfrm>
          <a:prstGeom prst="rect">
            <a:avLst/>
          </a:prstGeom>
          <a:noFill/>
          <a:ln/>
        </p:spPr>
        <p:txBody>
          <a:bodyPr wrap="none" lIns="0" tIns="0" rIns="0" bIns="0" rtlCol="0" anchor="t"/>
          <a:lstStyle/>
          <a:p>
            <a:pPr algn="l" indent="0" marL="0">
              <a:lnSpc>
                <a:spcPct val="100000"/>
              </a:lnSpc>
              <a:buNone/>
            </a:pPr>
            <a:r>
              <a:rPr lang="en-US" sz="1350" b="1" spc="14" kern="100" dirty="0">
                <a:solidFill>
                  <a:srgbClr val="000000"/>
                </a:solidFill>
                <a:latin typeface="Public Sans Bold" pitchFamily="34" charset="0"/>
                <a:ea typeface="Public Sans Bold" pitchFamily="34" charset="-122"/>
                <a:cs typeface="Public Sans Bold" pitchFamily="34" charset="0"/>
              </a:rPr>
              <a:t>Evolutionary learning</a:t>
            </a:r>
            <a:endParaRPr lang="en-US" sz="1350" dirty="0"/>
          </a:p>
        </p:txBody>
      </p:sp>
      <p:sp>
        <p:nvSpPr>
          <p:cNvPr id="18" name="Shape 16"/>
          <p:cNvSpPr/>
          <p:nvPr/>
        </p:nvSpPr>
        <p:spPr>
          <a:xfrm>
            <a:off x="4197245" y="2085280"/>
            <a:ext cx="38099" cy="4315520"/>
          </a:xfrm>
          <a:prstGeom prst="rect">
            <a:avLst/>
          </a:prstGeom>
          <a:solidFill>
            <a:srgbClr val="14284B"/>
          </a:solidFill>
          <a:ln/>
        </p:spPr>
      </p:sp>
      <p:sp>
        <p:nvSpPr>
          <p:cNvPr id="19" name="Shape 17"/>
          <p:cNvSpPr/>
          <p:nvPr/>
        </p:nvSpPr>
        <p:spPr>
          <a:xfrm>
            <a:off x="7956351" y="2085280"/>
            <a:ext cx="38099" cy="4315520"/>
          </a:xfrm>
          <a:prstGeom prst="rect">
            <a:avLst/>
          </a:prstGeom>
          <a:solidFill>
            <a:srgbClr val="14284B"/>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189" y="1712119"/>
            <a:ext cx="2095051" cy="328116"/>
          </a:xfrm>
          <a:prstGeom prst="rect">
            <a:avLst/>
          </a:prstGeom>
          <a:solidFill>
            <a:srgbClr val="FFE01B"/>
          </a:solidFill>
          <a:ln/>
        </p:spPr>
      </p:sp>
      <p:sp>
        <p:nvSpPr>
          <p:cNvPr id="3" name="Text 1"/>
          <p:cNvSpPr/>
          <p:nvPr/>
        </p:nvSpPr>
        <p:spPr>
          <a:xfrm>
            <a:off x="578034" y="1782639"/>
            <a:ext cx="2462945" cy="207268"/>
          </a:xfrm>
          <a:prstGeom prst="rect">
            <a:avLst/>
          </a:prstGeom>
          <a:noFill/>
          <a:ln/>
        </p:spPr>
        <p:txBody>
          <a:bodyPr wrap="none" lIns="0" tIns="0" rIns="0" bIns="0" rtlCol="0" anchor="t"/>
          <a:lstStyle/>
          <a:p>
            <a:pPr algn="l" indent="0" marL="0">
              <a:lnSpc>
                <a:spcPct val="100000"/>
              </a:lnSpc>
              <a:buNone/>
            </a:pPr>
            <a:r>
              <a:rPr lang="en-US" sz="1350" b="1" spc="14" kern="100" dirty="0">
                <a:solidFill>
                  <a:srgbClr val="000000"/>
                </a:solidFill>
                <a:latin typeface="Public Sans Bold" pitchFamily="34" charset="0"/>
                <a:ea typeface="Public Sans Bold" pitchFamily="34" charset="-122"/>
                <a:cs typeface="Public Sans Bold" pitchFamily="34" charset="0"/>
              </a:rPr>
              <a:t>Section 7 · Conclusion</a:t>
            </a:r>
            <a:endParaRPr lang="en-US" sz="1350" dirty="0"/>
          </a:p>
        </p:txBody>
      </p:sp>
      <p:sp>
        <p:nvSpPr>
          <p:cNvPr id="4" name="Text 2"/>
          <p:cNvSpPr/>
          <p:nvPr/>
        </p:nvSpPr>
        <p:spPr>
          <a:xfrm>
            <a:off x="457189" y="2157710"/>
            <a:ext cx="5994250" cy="1066800"/>
          </a:xfrm>
          <a:prstGeom prst="rect">
            <a:avLst/>
          </a:prstGeom>
          <a:noFill/>
          <a:ln/>
        </p:spPr>
        <p:txBody>
          <a:bodyPr wrap="square" lIns="0" tIns="0" rIns="0" bIns="0" rtlCol="0" anchor="t">
            <a:normAutofit/>
          </a:bodyPr>
          <a:lstStyle/>
          <a:p>
            <a:pPr algn="l" indent="0" marL="0">
              <a:lnSpc>
                <a:spcPct val="88000"/>
              </a:lnSpc>
              <a:buNone/>
            </a:pPr>
            <a:r>
              <a:rPr lang="en-US" sz="4000" spc="-40" kern="100" dirty="0">
                <a:solidFill>
                  <a:srgbClr val="FFFFFF"/>
                </a:solidFill>
                <a:latin typeface="Bitter ExtraBold" pitchFamily="34" charset="0"/>
                <a:ea typeface="Bitter ExtraBold" pitchFamily="34" charset="-122"/>
                <a:cs typeface="Bitter ExtraBold" pitchFamily="34" charset="0"/>
              </a:rPr>
              <a:t>An experiment and an open agenda</a:t>
            </a:r>
            <a:endParaRPr lang="en-US" sz="4000" dirty="0"/>
          </a:p>
        </p:txBody>
      </p:sp>
      <p:sp>
        <p:nvSpPr>
          <p:cNvPr id="5" name="Text 3"/>
          <p:cNvSpPr/>
          <p:nvPr/>
        </p:nvSpPr>
        <p:spPr>
          <a:xfrm>
            <a:off x="457189" y="3383260"/>
            <a:ext cx="5994250" cy="1104900"/>
          </a:xfrm>
          <a:prstGeom prst="rect">
            <a:avLst/>
          </a:prstGeom>
          <a:noFill/>
          <a:ln/>
        </p:spPr>
        <p:txBody>
          <a:bodyPr wrap="square" lIns="0" tIns="0" rIns="0" bIns="0" rtlCol="0" anchor="t">
            <a:normAutofit/>
          </a:bodyPr>
          <a:lstStyle/>
          <a:p>
            <a:pPr algn="l" indent="0" marL="0">
              <a:lnSpc>
                <a:spcPct val="121000"/>
              </a:lnSpc>
              <a:buNone/>
            </a:pPr>
            <a:r>
              <a:rPr lang="en-US" sz="2000" dirty="0">
                <a:solidFill>
                  <a:srgbClr val="FFFFFF"/>
                </a:solidFill>
                <a:latin typeface="Public Sans" pitchFamily="34" charset="0"/>
                <a:ea typeface="Public Sans" pitchFamily="34" charset="-122"/>
                <a:cs typeface="Public Sans" pitchFamily="34" charset="0"/>
              </a:rPr>
              <a:t>Turing proposed empirical investigation rather than dogmatic proof, urging work on chess and language learning.</a:t>
            </a:r>
            <a:endParaRPr lang="en-US" sz="2000" dirty="0"/>
          </a:p>
        </p:txBody>
      </p:sp>
      <p:sp>
        <p:nvSpPr>
          <p:cNvPr id="6" name="Text 4"/>
          <p:cNvSpPr/>
          <p:nvPr/>
        </p:nvSpPr>
        <p:spPr>
          <a:xfrm>
            <a:off x="457189" y="4672628"/>
            <a:ext cx="5994250" cy="480020"/>
          </a:xfrm>
          <a:prstGeom prst="rect">
            <a:avLst/>
          </a:prstGeom>
          <a:noFill/>
          <a:ln/>
        </p:spPr>
        <p:txBody>
          <a:bodyPr wrap="square" lIns="0" tIns="0" rIns="0" bIns="0" rtlCol="0" anchor="t">
            <a:normAutofit/>
          </a:bodyPr>
          <a:lstStyle/>
          <a:p>
            <a:pPr algn="l" indent="0" marL="0">
              <a:lnSpc>
                <a:spcPct val="112000"/>
              </a:lnSpc>
              <a:buNone/>
            </a:pPr>
            <a:r>
              <a:rPr lang="en-US" sz="1400" dirty="0">
                <a:solidFill>
                  <a:srgbClr val="FFFFFF"/>
                </a:solidFill>
                <a:latin typeface="Public Sans" pitchFamily="34" charset="0"/>
                <a:ea typeface="Public Sans" pitchFamily="34" charset="-122"/>
                <a:cs typeface="Public Sans" pitchFamily="34" charset="0"/>
              </a:rPr>
              <a:t>"We can only see a short distance ahead, but we can see plenty there that needs to be done."</a:t>
            </a:r>
            <a:endParaRPr lang="en-US" sz="1400" dirty="0"/>
          </a:p>
        </p:txBody>
      </p:sp>
      <p:pic>
        <p:nvPicPr>
          <p:cNvPr id="7" name="Image 0" descr="preencoded.png">    </p:cNvPr>
          <p:cNvPicPr>
            <a:picLocks noChangeAspect="1"/>
          </p:cNvPicPr>
          <p:nvPr/>
        </p:nvPicPr>
        <p:blipFill>
          <a:blip r:embed="rId1"/>
          <a:stretch>
            <a:fillRect/>
          </a:stretch>
        </p:blipFill>
        <p:spPr>
          <a:xfrm>
            <a:off x="6908627" y="0"/>
            <a:ext cx="5283068"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2026-10-30T07:24:13Z</dcterms:created>
  <dcterms:modified xsi:type="dcterms:W3CDTF">2026-10-30T07:24:13Z</dcterms:modified>
</cp:coreProperties>
</file>